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10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Bom dia! Eu sou Caroline de Santana e estudo Análise e Desenvolvimento de Sistemas. Hoje eu trouxe a Teka para uma missão que mistura tecnologia, meio ambiente e saúde.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começar, quero saber: quais tecnologias vocês usam todos os dias? Deixe algumas crianças responderem e acolha exemplos como celular, televisão, videogame e computador.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Teka usa o computador para pesquisar, aprender e criar. Explique que tecnologia também ajuda a resolver problemas e melhorar a vida das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tecnologia também serve para brincar e se divertir. Pergunte quem joga videogame. Em seguida, provoque: e quando o aparelho quebra e ninguém mais usa, para onde ele vai?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os aparelhos do slide. Todos fazem parte da nossa rotina, mas um dia deixam de funcionar. Peça que a turma pense no destino de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aparelho da Teka quebrou. Pergunte: ela deve colocar no lixo comum? Espere as respostas antes de dizer que existe um caminho mais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Explique: lixo eletrônico é todo aparelho elétrico ou eletrônico que não será mais usado. Cabos, carregadores, fones, pilhas e baterias também entram nessa história.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com calma: o descarte errado pode contaminar o ambiente, desperdiçar materiais e trazer riscos. Reforce que pilhas e baterias precisam de cuidado especial.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Conecte as ideias: quando descartamos corretamente, reduzimos a contaminação, reaproveitamos materiais e protegemos a saúde. Peça que a turma repita: ambiente saudável, pessoas saudáveis.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os quatro caminhos. Reutilizar quando ainda funciona. Consertar quando vale a pena. Doar para outra pessoa usar. Descartar em ponto de coleta quando chegou ao fim da vida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pontos de coleta e algumas lojas recebem eletrônicos usados. Crianças devem pedir ajuda a um adulto e nunca abrir pilhas, baterias ou aparelhos quebrados.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Agora faça a ligação com o curso de ADS: quem cria sistemas e soluções também precisa pensar no consumo de recursos, na vida útil dos aparelhos e no destino da tecnologia.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Faça a dinâmica. Pergunte um item por vez. Respostas: casca de banana no lixo orgânico; papel e lata na coleta seletiva; celular quebrado, pilha usada e fone quebrado em ponto de coleta de lixo eletrônico. Deixe a turma responder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Finalize: a Teka descobriu que toda tecnologia também tem um destino. Agradeça à turma e convide as crianças a contar essa missão para a família. Frase final: pequenas atitudes, grandes mudanças!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CD9A4-B8E9-4168-9B9F-5DA094101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CEED0-EAAB-4641-AA42-8B12160F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51011-9183-4CE7-B6B5-4D51802C22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283B7-8636-4658-A6E2-7121E73389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A111C-F85F-4B3F-8B66-84E9965CA5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D999-D63D-4F87-9103-D0D409F7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6A360-EC88-4D8A-90F9-357489C3D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09C9A-2408-494D-9BD5-554FEA0F61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0E274-B054-4915-8920-F53B9CB64F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AAAB1-0592-49A7-B69A-044D3B9AEF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74D5-A980-450D-BC61-5859C9E2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D9A2F-4A3A-44FD-9AA2-0A8B51DCA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20021-162D-46E6-B378-CA51B9C6EF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F883C-48F0-4154-8E89-64D66B61BE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B013C-4A50-4BF4-B759-3AC46EE15D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11B5-9877-482B-AD93-7933FF13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E44D-AFB2-4C28-8CA2-50FC3C8E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FE9CB-3CB2-4D9D-9C49-1FBAFF2CFBB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C2B9B-228A-4DD4-8511-7D009B826A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86095-A019-4FCE-A30D-D26BA6E722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C46E7-3F4B-455B-B321-E3EDEEF258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C9FD-9280-4E4F-A6DD-03342E37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C9C71-BCC6-459A-BF0C-7B94BDE8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E3793-02DB-425C-9A3A-A25CC891BDD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ED40D-D3D5-4F15-92F0-B76A70A6B8C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5D12F2-298A-44E0-B636-9E37BB16B0F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ADB43-0CB9-45CF-BDE8-BC7D247A96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0BC73C-2674-4170-BD35-F8B88C5BE1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5D50C-1457-4707-854C-758BDD154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A634-15C3-4C28-A770-B91480C2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32105-E1CC-42EF-BD7F-7012285042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EC42B-4046-4DAD-816D-EFFE9BF4B92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C69BF-A41F-418B-96A8-6B35173D46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626179-EE20-49E6-A8AB-846722B4DA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9A928-8BC6-40C3-AA68-9023188362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4F7EE-683E-432A-BAE5-62946FD7FE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5D63-F7B5-47CA-B9B1-AAA426AC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FD37E-86BE-436D-91FD-7F01BE4D0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EDDA8-C2A0-4629-8D6A-EBC1B8E750A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C73E1-B396-4CF0-B6DE-F6958B26E2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7C63E-4146-4AD5-ADA0-E68A4A6BDD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86EAD-13A7-4313-8A7E-749A99340A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9EED-D524-48CD-9A7C-AEB27C19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1FA03B-C5FE-4BEA-B8F3-46EF6A9EA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AD348-63CB-439E-8329-7C45A3BAA5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F88FA-559A-4C24-9BAB-B65F7569CE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94FAF-42ED-4A97-8A32-74460F08B6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DE496-2AE9-4723-887F-D45BC2A30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A18D-BB45-4F55-B969-3D244FB9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CAB4D1-DBA7-4D7E-A3CF-A276EAACF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8D050-F7C0-4DEE-A760-39B4BD20BD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65C20-8B3E-4093-BE88-488AF6EFDE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A6F6E-8C7E-4E4E-8734-50741DD44F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CA0C56-2DFD-4BD9-8EEA-83F11D5F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4EAAB-A2B0-4EE0-B4C5-3A516B99A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8D1AE-0154-4C8E-AB5B-3D1F360AB3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52CED-385C-4B2B-B08F-F48B0D840F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90C7D-E2C9-46EE-975D-270ED97F5D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F22EA-D522-4095-92C4-258D0E2F0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C46B2-3601-4735-A368-231201894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83F40-9448-4B6F-9F71-157A647392D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12/09/2026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DE4C-A9DB-45A9-8373-D864CD3F765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509A4-4FC4-4AB0-B403-0B4DE1A27F1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29D374-CED2-47CF-8439-3D162FDFC65B}"/>
              </a:ext>
            </a:extLst>
          </p:cNvPr>
          <p:cNvSpPr>
            <a:spLocks noGrp="1"/>
          </p:cNvSpPr>
          <p:nvPr/>
        </p:nvSpPr>
        <p:spPr>
          <a:xfrm>
            <a:off x="6492240" y="6199632"/>
            <a:ext cx="5257800" cy="502920"/>
          </a:xfrm>
          <a:prstGeom prst="roundRect">
            <a:avLst/>
          </a:prstGeom>
          <a:solidFill>
            <a:srgbClr val="FF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63FFB-6A29-4314-9A00-63BFF7D9AEA4}"/>
              </a:ext>
            </a:extLst>
          </p:cNvPr>
          <p:cNvSpPr>
            <a:spLocks noGrp="1"/>
          </p:cNvSpPr>
          <p:nvPr/>
        </p:nvSpPr>
        <p:spPr>
          <a:xfrm>
            <a:off x="6492240" y="6199632"/>
            <a:ext cx="5257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Pergunte: “Quais tecnologias vocês usam todos os dias?”</a:t>
            </a:r>
          </a:p>
        </p:txBody>
      </p:sp>
    </p:spTree>
    <p:extLst>
      <p:ext uri="{BB962C8B-B14F-4D97-AF65-F5344CB8AC3E}">
        <p14:creationId xmlns:p14="http://schemas.microsoft.com/office/powerpoint/2010/main" val="66589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82F573-045F-4B04-B27A-34CBA1611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9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5909D7-AA6D-461B-BE78-58E19C819002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89E57-5CEB-4A1F-A235-1D9F0BF7CF21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C3B9B8-5936-4C50-A9F8-79DBAF8A0053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A Teka usa a tecnologia para aprender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97493-BC61-45CF-A7FF-1FAD826B35F4}"/>
              </a:ext>
            </a:extLst>
          </p:cNvPr>
          <p:cNvSpPr>
            <a:spLocks noGrp="1"/>
          </p:cNvSpPr>
          <p:nvPr/>
        </p:nvSpPr>
        <p:spPr>
          <a:xfrm>
            <a:off x="731520" y="1234440"/>
            <a:ext cx="19202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8486B-58DF-4268-AB1F-9623E65B44A2}"/>
              </a:ext>
            </a:extLst>
          </p:cNvPr>
          <p:cNvSpPr>
            <a:spLocks noGrp="1"/>
          </p:cNvSpPr>
          <p:nvPr/>
        </p:nvSpPr>
        <p:spPr>
          <a:xfrm>
            <a:off x="2788920" y="1371600"/>
            <a:ext cx="8138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2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ESTUDAR • PESQUISAR • CRIAR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065C1C-21F2-4C5D-BBD6-DA30B018B98F}"/>
              </a:ext>
            </a:extLst>
          </p:cNvPr>
          <p:cNvSpPr>
            <a:spLocks noGrp="1"/>
          </p:cNvSpPr>
          <p:nvPr/>
        </p:nvSpPr>
        <p:spPr>
          <a:xfrm>
            <a:off x="2788920" y="2240280"/>
            <a:ext cx="3749039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7F6D8-735C-4875-8617-F040CCCD4AF0}"/>
              </a:ext>
            </a:extLst>
          </p:cNvPr>
          <p:cNvSpPr>
            <a:spLocks noGrp="1"/>
          </p:cNvSpPr>
          <p:nvPr/>
        </p:nvSpPr>
        <p:spPr>
          <a:xfrm>
            <a:off x="2953512" y="23500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📚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C00CE-E137-4D44-B16F-4EE17BDDE409}"/>
              </a:ext>
            </a:extLst>
          </p:cNvPr>
          <p:cNvSpPr>
            <a:spLocks noGrp="1"/>
          </p:cNvSpPr>
          <p:nvPr/>
        </p:nvSpPr>
        <p:spPr>
          <a:xfrm>
            <a:off x="3502152" y="2331720"/>
            <a:ext cx="28803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No computador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F30CA0-3DA7-42E6-BF02-D592554F2C31}"/>
              </a:ext>
            </a:extLst>
          </p:cNvPr>
          <p:cNvSpPr>
            <a:spLocks noGrp="1"/>
          </p:cNvSpPr>
          <p:nvPr/>
        </p:nvSpPr>
        <p:spPr>
          <a:xfrm>
            <a:off x="2971800" y="2852928"/>
            <a:ext cx="3383279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Ela pesquisa, aprende e cria projetos.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3C55B5-3E2A-4E95-9EDF-813B85FB8623}"/>
              </a:ext>
            </a:extLst>
          </p:cNvPr>
          <p:cNvSpPr>
            <a:spLocks noGrp="1"/>
          </p:cNvSpPr>
          <p:nvPr/>
        </p:nvSpPr>
        <p:spPr>
          <a:xfrm>
            <a:off x="6812280" y="2240280"/>
            <a:ext cx="3749039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364612-D05A-4901-939C-0417513DEE71}"/>
              </a:ext>
            </a:extLst>
          </p:cNvPr>
          <p:cNvSpPr>
            <a:spLocks noGrp="1"/>
          </p:cNvSpPr>
          <p:nvPr/>
        </p:nvSpPr>
        <p:spPr>
          <a:xfrm>
            <a:off x="6976872" y="23500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644F29-D361-48D0-8765-D95038C81309}"/>
              </a:ext>
            </a:extLst>
          </p:cNvPr>
          <p:cNvSpPr>
            <a:spLocks noGrp="1"/>
          </p:cNvSpPr>
          <p:nvPr/>
        </p:nvSpPr>
        <p:spPr>
          <a:xfrm>
            <a:off x="7525512" y="2331720"/>
            <a:ext cx="28803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Tecnologia com propósito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05E82-1D9C-4E8F-82DB-3352A4C23A34}"/>
              </a:ext>
            </a:extLst>
          </p:cNvPr>
          <p:cNvSpPr>
            <a:spLocks noGrp="1"/>
          </p:cNvSpPr>
          <p:nvPr/>
        </p:nvSpPr>
        <p:spPr>
          <a:xfrm>
            <a:off x="6995160" y="2852928"/>
            <a:ext cx="3383279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A tecnologia ajuda a resolver problemas e melhorar a vida.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040319-8FBB-401D-9F4A-A83E6170A3BE}"/>
              </a:ext>
            </a:extLst>
          </p:cNvPr>
          <p:cNvSpPr>
            <a:spLocks noGrp="1"/>
          </p:cNvSpPr>
          <p:nvPr/>
        </p:nvSpPr>
        <p:spPr>
          <a:xfrm>
            <a:off x="4206240" y="4892040"/>
            <a:ext cx="3840480" cy="502920"/>
          </a:xfrm>
          <a:prstGeom prst="roundRect">
            <a:avLst/>
          </a:prstGeom>
          <a:solidFill>
            <a:srgbClr val="E1F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D82631-AF92-4603-AE10-2AFA788C4702}"/>
              </a:ext>
            </a:extLst>
          </p:cNvPr>
          <p:cNvSpPr>
            <a:spLocks noGrp="1"/>
          </p:cNvSpPr>
          <p:nvPr/>
        </p:nvSpPr>
        <p:spPr>
          <a:xfrm>
            <a:off x="4206240" y="48920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Próxima ação da Teka 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62D2A-3EA8-4EBC-979F-5D1577E4A83F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1950" y="1428750"/>
            <a:ext cx="2190750" cy="2190750"/>
          </a:xfrm>
          <a:prstGeom prst="roundRect">
            <a:avLst>
              <a:gd name="adj" fmla="val 6957"/>
            </a:avLst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306AEA3-C37A-4059-8EBA-1A679EA61288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87413"/>
          </a:bodyPr>
          <a:lstStyle/>
          <a:p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834CD0D-A37D-4097-B08B-3BFFF82CFF39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676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Tecnologia para aprender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524914B-E1E9-4510-BA53-8F9CB5FCCFFA}"/>
              </a:ext>
            </a:extLst>
          </p:cNvPr>
          <p:cNvSpPr>
            <a:spLocks noGrp="1"/>
          </p:cNvSpPr>
          <p:nvPr/>
        </p:nvSpPr>
        <p:spPr>
          <a:xfrm>
            <a:off x="819150" y="1476375"/>
            <a:ext cx="485775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ESTUDAR</a:t>
            </a:r>
          </a:p>
          <a:p>
            <a:pPr>
              <a:def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PESQUISAR</a:t>
            </a:r>
          </a:p>
          <a:p>
            <a:pPr>
              <a:def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CRIAR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192F79B-73C2-4A26-A6C4-8A4A89AC8510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4095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209"/>
          </a:bodyPr>
          <a:lstStyle/>
          <a:p>
            <a:pPr>
              <a:defRPr sz="20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A Teka pesquisa, aprende e transforma ideias em projetos.</a:t>
            </a:r>
          </a:p>
        </p:txBody>
      </p:sp>
    </p:spTree>
    <p:extLst>
      <p:ext uri="{BB962C8B-B14F-4D97-AF65-F5344CB8AC3E}">
        <p14:creationId xmlns:p14="http://schemas.microsoft.com/office/powerpoint/2010/main" val="76498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F2F685-39F8-4A24-B73D-D3D5F3EBBA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D67838-2CB7-44AD-970F-C65AD1CE3F48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516D4-3D0C-4108-8DC1-812F72542C9A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30FC2-D9AF-4F61-81D5-5D53042FF0A9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E também para se divertir!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187C3-BAFD-4ABA-AFFC-68D5F812B238}"/>
              </a:ext>
            </a:extLst>
          </p:cNvPr>
          <p:cNvSpPr>
            <a:spLocks noGrp="1"/>
          </p:cNvSpPr>
          <p:nvPr/>
        </p:nvSpPr>
        <p:spPr>
          <a:xfrm>
            <a:off x="777240" y="1234440"/>
            <a:ext cx="19202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9B9CB-4B37-49CC-9F92-75379841478B}"/>
              </a:ext>
            </a:extLst>
          </p:cNvPr>
          <p:cNvSpPr>
            <a:spLocks noGrp="1"/>
          </p:cNvSpPr>
          <p:nvPr/>
        </p:nvSpPr>
        <p:spPr>
          <a:xfrm>
            <a:off x="2788920" y="1371600"/>
            <a:ext cx="8138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2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JOGAR • BRINCAR • COMPARTILHAR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EE15BB-8E10-4AD1-B9F1-D80C8E87F55B}"/>
              </a:ext>
            </a:extLst>
          </p:cNvPr>
          <p:cNvSpPr>
            <a:spLocks noGrp="1"/>
          </p:cNvSpPr>
          <p:nvPr/>
        </p:nvSpPr>
        <p:spPr>
          <a:xfrm>
            <a:off x="2788920" y="2240280"/>
            <a:ext cx="3749039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1CDD1-DCB3-4B6A-A8E0-1861777EAD95}"/>
              </a:ext>
            </a:extLst>
          </p:cNvPr>
          <p:cNvSpPr>
            <a:spLocks noGrp="1"/>
          </p:cNvSpPr>
          <p:nvPr/>
        </p:nvSpPr>
        <p:spPr>
          <a:xfrm>
            <a:off x="2953512" y="23500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9B54F-7C7B-4AFB-9096-B9F4AE0E5AFF}"/>
              </a:ext>
            </a:extLst>
          </p:cNvPr>
          <p:cNvSpPr>
            <a:spLocks noGrp="1"/>
          </p:cNvSpPr>
          <p:nvPr/>
        </p:nvSpPr>
        <p:spPr>
          <a:xfrm>
            <a:off x="3502152" y="2331720"/>
            <a:ext cx="28803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Videogame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413B4-C012-43B3-B696-7CA2D61A324B}"/>
              </a:ext>
            </a:extLst>
          </p:cNvPr>
          <p:cNvSpPr>
            <a:spLocks noGrp="1"/>
          </p:cNvSpPr>
          <p:nvPr/>
        </p:nvSpPr>
        <p:spPr>
          <a:xfrm>
            <a:off x="2971800" y="2852928"/>
            <a:ext cx="3383279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Ela se diverte, aprende e supera desafios.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F003B57-863A-46D4-B150-DF20A7916C5F}"/>
              </a:ext>
            </a:extLst>
          </p:cNvPr>
          <p:cNvSpPr>
            <a:spLocks noGrp="1"/>
          </p:cNvSpPr>
          <p:nvPr/>
        </p:nvSpPr>
        <p:spPr>
          <a:xfrm>
            <a:off x="6812280" y="2240280"/>
            <a:ext cx="3749039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69F920-B90E-4A25-B002-69261487002F}"/>
              </a:ext>
            </a:extLst>
          </p:cNvPr>
          <p:cNvSpPr>
            <a:spLocks noGrp="1"/>
          </p:cNvSpPr>
          <p:nvPr/>
        </p:nvSpPr>
        <p:spPr>
          <a:xfrm>
            <a:off x="6976872" y="23500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2800D-F067-4238-8243-459F14E67C18}"/>
              </a:ext>
            </a:extLst>
          </p:cNvPr>
          <p:cNvSpPr>
            <a:spLocks noGrp="1"/>
          </p:cNvSpPr>
          <p:nvPr/>
        </p:nvSpPr>
        <p:spPr>
          <a:xfrm>
            <a:off x="7525512" y="2331720"/>
            <a:ext cx="28803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Mas tem uma pergunta...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E483D-1510-439F-BD90-C2C3379EFBC6}"/>
              </a:ext>
            </a:extLst>
          </p:cNvPr>
          <p:cNvSpPr>
            <a:spLocks noGrp="1"/>
          </p:cNvSpPr>
          <p:nvPr/>
        </p:nvSpPr>
        <p:spPr>
          <a:xfrm>
            <a:off x="6995160" y="2852928"/>
            <a:ext cx="3383279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Para onde vai o controle quando quebra e ninguém mais usa?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799678F-ABB1-4414-8FE5-34B4A04AE9C9}"/>
              </a:ext>
            </a:extLst>
          </p:cNvPr>
          <p:cNvSpPr>
            <a:spLocks noGrp="1"/>
          </p:cNvSpPr>
          <p:nvPr/>
        </p:nvSpPr>
        <p:spPr>
          <a:xfrm>
            <a:off x="3749039" y="4892040"/>
            <a:ext cx="4754880" cy="502920"/>
          </a:xfrm>
          <a:prstGeom prst="roundRect">
            <a:avLst/>
          </a:prstGeom>
          <a:solidFill>
            <a:srgbClr val="FFE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8CF05-75CC-4E17-8150-5824E9C00C8A}"/>
              </a:ext>
            </a:extLst>
          </p:cNvPr>
          <p:cNvSpPr>
            <a:spLocks noGrp="1"/>
          </p:cNvSpPr>
          <p:nvPr/>
        </p:nvSpPr>
        <p:spPr>
          <a:xfrm>
            <a:off x="3749039" y="4892040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Essa pergunta leva para o problema da história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9B1945-64C6-4EF6-B1B5-47D06C4DCA23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1950" y="1428750"/>
            <a:ext cx="2190750" cy="2190750"/>
          </a:xfrm>
          <a:prstGeom prst="roundRect">
            <a:avLst>
              <a:gd name="adj" fmla="val 6957"/>
            </a:avLst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91D891E-2DEE-48E3-A0C5-B158F5214099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87413"/>
          </a:bodyPr>
          <a:lstStyle/>
          <a:p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85C2F75-42E6-4E93-9A9A-076061FAB88A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676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Tecnologia para se divertir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FD55043-7F46-4DD3-B25E-96764E017B9E}"/>
              </a:ext>
            </a:extLst>
          </p:cNvPr>
          <p:cNvSpPr>
            <a:spLocks noGrp="1"/>
          </p:cNvSpPr>
          <p:nvPr/>
        </p:nvSpPr>
        <p:spPr>
          <a:xfrm>
            <a:off x="819150" y="1428750"/>
            <a:ext cx="5524500" cy="2143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4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JOGAR</a:t>
            </a:r>
          </a:p>
          <a:p>
            <a:pPr>
              <a:defRPr sz="34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BRINCAR</a:t>
            </a:r>
          </a:p>
          <a:p>
            <a:pPr>
              <a:defRPr sz="34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COMPARTILHAR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06AD0CE-EE05-4133-97EA-CAF4C9BCAC64}"/>
              </a:ext>
            </a:extLst>
          </p:cNvPr>
          <p:cNvSpPr>
            <a:spLocks noGrp="1"/>
          </p:cNvSpPr>
          <p:nvPr/>
        </p:nvSpPr>
        <p:spPr>
          <a:xfrm>
            <a:off x="2381250" y="4095750"/>
            <a:ext cx="4095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55"/>
          </a:bodyPr>
          <a:lstStyle/>
          <a:p>
            <a:pPr>
              <a:def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E quando o aparelho quebra?</a:t>
            </a:r>
          </a:p>
        </p:txBody>
      </p:sp>
    </p:spTree>
    <p:extLst>
      <p:ext uri="{BB962C8B-B14F-4D97-AF65-F5344CB8AC3E}">
        <p14:creationId xmlns:p14="http://schemas.microsoft.com/office/powerpoint/2010/main" val="114946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C98DFB-04D3-4D91-AFCD-FF1CA12E5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544103-8E41-486E-9536-D6FF92E8F1A9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D09CA-7A89-4135-9983-BE909622E814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225F4-1ED9-4ED5-9B67-23F2E6195A1F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Celular, fone, TV... tecnologia por toda parte!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B2D673B-6B41-4E35-9A1F-1A4E2F5B6792}"/>
              </a:ext>
            </a:extLst>
          </p:cNvPr>
          <p:cNvSpPr>
            <a:spLocks noGrp="1"/>
          </p:cNvSpPr>
          <p:nvPr/>
        </p:nvSpPr>
        <p:spPr>
          <a:xfrm>
            <a:off x="685800" y="141732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56B5A-02D8-4274-BFE3-10420D7530ED}"/>
              </a:ext>
            </a:extLst>
          </p:cNvPr>
          <p:cNvSpPr>
            <a:spLocks noGrp="1"/>
          </p:cNvSpPr>
          <p:nvPr/>
        </p:nvSpPr>
        <p:spPr>
          <a:xfrm>
            <a:off x="685800" y="1554480"/>
            <a:ext cx="187451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8BB71-B10E-4905-85DA-31037F4C4873}"/>
              </a:ext>
            </a:extLst>
          </p:cNvPr>
          <p:cNvSpPr>
            <a:spLocks noGrp="1"/>
          </p:cNvSpPr>
          <p:nvPr/>
        </p:nvSpPr>
        <p:spPr>
          <a:xfrm>
            <a:off x="685800" y="26060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Celular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F4C8416-D008-4F44-921E-CE2DD7E9AD04}"/>
              </a:ext>
            </a:extLst>
          </p:cNvPr>
          <p:cNvSpPr>
            <a:spLocks noGrp="1"/>
          </p:cNvSpPr>
          <p:nvPr/>
        </p:nvSpPr>
        <p:spPr>
          <a:xfrm>
            <a:off x="2953512" y="141732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C6CD2-9017-4015-B1A7-B2ADE351F4B0}"/>
              </a:ext>
            </a:extLst>
          </p:cNvPr>
          <p:cNvSpPr>
            <a:spLocks noGrp="1"/>
          </p:cNvSpPr>
          <p:nvPr/>
        </p:nvSpPr>
        <p:spPr>
          <a:xfrm>
            <a:off x="2953512" y="1554480"/>
            <a:ext cx="187451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82EF7-A92E-41D1-8A4B-1D4C32300DD0}"/>
              </a:ext>
            </a:extLst>
          </p:cNvPr>
          <p:cNvSpPr>
            <a:spLocks noGrp="1"/>
          </p:cNvSpPr>
          <p:nvPr/>
        </p:nvSpPr>
        <p:spPr>
          <a:xfrm>
            <a:off x="2953512" y="26060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Fone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16F99A-3272-4663-A756-9205EEB3BAAD}"/>
              </a:ext>
            </a:extLst>
          </p:cNvPr>
          <p:cNvSpPr>
            <a:spLocks noGrp="1"/>
          </p:cNvSpPr>
          <p:nvPr/>
        </p:nvSpPr>
        <p:spPr>
          <a:xfrm>
            <a:off x="5221224" y="141732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1717C-8D9F-4738-B4F9-610756D999CF}"/>
              </a:ext>
            </a:extLst>
          </p:cNvPr>
          <p:cNvSpPr>
            <a:spLocks noGrp="1"/>
          </p:cNvSpPr>
          <p:nvPr/>
        </p:nvSpPr>
        <p:spPr>
          <a:xfrm>
            <a:off x="5221224" y="1554480"/>
            <a:ext cx="187451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26A3F8-6308-4439-B63B-7D34903170A5}"/>
              </a:ext>
            </a:extLst>
          </p:cNvPr>
          <p:cNvSpPr>
            <a:spLocks noGrp="1"/>
          </p:cNvSpPr>
          <p:nvPr/>
        </p:nvSpPr>
        <p:spPr>
          <a:xfrm>
            <a:off x="5221224" y="26060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Televisão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A628239-8420-4349-9C11-784D9D27ACC6}"/>
              </a:ext>
            </a:extLst>
          </p:cNvPr>
          <p:cNvSpPr>
            <a:spLocks noGrp="1"/>
          </p:cNvSpPr>
          <p:nvPr/>
        </p:nvSpPr>
        <p:spPr>
          <a:xfrm>
            <a:off x="7488936" y="141732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BCEF6-093C-47E6-9089-0AFB55258FB7}"/>
              </a:ext>
            </a:extLst>
          </p:cNvPr>
          <p:cNvSpPr>
            <a:spLocks noGrp="1"/>
          </p:cNvSpPr>
          <p:nvPr/>
        </p:nvSpPr>
        <p:spPr>
          <a:xfrm>
            <a:off x="7488936" y="1554480"/>
            <a:ext cx="187451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⌨️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5DC881-9C15-409E-A365-1C3394A1E193}"/>
              </a:ext>
            </a:extLst>
          </p:cNvPr>
          <p:cNvSpPr>
            <a:spLocks noGrp="1"/>
          </p:cNvSpPr>
          <p:nvPr/>
        </p:nvSpPr>
        <p:spPr>
          <a:xfrm>
            <a:off x="7488936" y="26060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Teclado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3EDF219-A9E8-4C2F-82EA-C9AE01CEE448}"/>
              </a:ext>
            </a:extLst>
          </p:cNvPr>
          <p:cNvSpPr>
            <a:spLocks noGrp="1"/>
          </p:cNvSpPr>
          <p:nvPr/>
        </p:nvSpPr>
        <p:spPr>
          <a:xfrm>
            <a:off x="9756648" y="1417320"/>
            <a:ext cx="187451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B803D6-2B58-47A1-BE98-7CCF5C246D19}"/>
              </a:ext>
            </a:extLst>
          </p:cNvPr>
          <p:cNvSpPr>
            <a:spLocks noGrp="1"/>
          </p:cNvSpPr>
          <p:nvPr/>
        </p:nvSpPr>
        <p:spPr>
          <a:xfrm>
            <a:off x="9756648" y="1554480"/>
            <a:ext cx="187451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E7F02D-E936-4F85-9EB2-6D1133D70B89}"/>
              </a:ext>
            </a:extLst>
          </p:cNvPr>
          <p:cNvSpPr>
            <a:spLocks noGrp="1"/>
          </p:cNvSpPr>
          <p:nvPr/>
        </p:nvSpPr>
        <p:spPr>
          <a:xfrm>
            <a:off x="9756648" y="26060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Cabos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85209-4093-4B31-94AB-2B76523B7074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8191500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025" b="1">
                <a:solidFill>
                  <a:srgbClr val="355649"/>
                </a:solidFill>
              </a:defRPr>
            </a:pPr>
            <a:r>
              <a:rPr sz="2025" b="1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A tecnologia faz parte da nossa vida. Mas o que acontece quando ela para de funcionar?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814C5F8-4F41-4761-8ADB-B525F39BF73A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5806440" cy="502920"/>
          </a:xfrm>
          <a:prstGeom prst="roundRect">
            <a:avLst/>
          </a:prstGeom>
          <a:solidFill>
            <a:srgbClr val="FFE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1982E6-FFC6-41B6-B95E-E82318709695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5806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E quando deixa de funcionar... para onde vai?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1206BE-3218-438D-8F1A-CB14E9D749BE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54" name="Imagem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20250" y="3476625"/>
            <a:ext cx="1809750" cy="1809750"/>
          </a:xfrm>
          <a:prstGeom prst="roundRect">
            <a:avLst>
              <a:gd name="adj" fmla="val 8421"/>
            </a:avLst>
          </a:prstGeom>
        </p:spPr>
      </p:pic>
      <p:pic>
        <p:nvPicPr>
          <p:cNvPr id="55" name="Imagem 54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021598A-6A6D-4AC7-AD5D-7F434ED5D6FD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87413"/>
          </a:bodyPr>
          <a:lstStyle/>
          <a:p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87DB2B4-A63C-4473-A534-79EE99EF0238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676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Tecnologia por toda parte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7D46097-B503-4E58-8B1D-386DB273CB4E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619125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CELULAR     FONE</a:t>
            </a:r>
          </a:p>
          <a:p>
            <a:pPr>
              <a:def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TELEVISÃO     TECLADO</a:t>
            </a:r>
          </a:p>
          <a:p>
            <a:pPr>
              <a:def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CABOS E CARREGADORES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1D42204-ED7F-434E-A909-7DE5427231DC}"/>
              </a:ext>
            </a:extLst>
          </p:cNvPr>
          <p:cNvSpPr>
            <a:spLocks noGrp="1"/>
          </p:cNvSpPr>
          <p:nvPr/>
        </p:nvSpPr>
        <p:spPr>
          <a:xfrm>
            <a:off x="2381250" y="3857625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667"/>
          </a:bodyPr>
          <a:lstStyle/>
          <a:p>
            <a:pPr>
              <a:defRPr sz="187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Tudo isso faz parte da nossa rotina.</a:t>
            </a:r>
          </a:p>
          <a:p>
            <a:pPr>
              <a:defRPr sz="187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Um dia, porém, pode parar de funcionar.</a:t>
            </a:r>
          </a:p>
        </p:txBody>
      </p:sp>
    </p:spTree>
    <p:extLst>
      <p:ext uri="{BB962C8B-B14F-4D97-AF65-F5344CB8AC3E}">
        <p14:creationId xmlns:p14="http://schemas.microsoft.com/office/powerpoint/2010/main" val="173033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84B8CE-DE5A-4C56-ACC0-F9D2E7F924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F125D49-F189-4B09-A386-AF144304384F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58938-ABC0-4F1C-BC37-D31E32B9E12A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1C30C-EEF0-4A08-9354-9479FDB8BAC7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Ops! O aparelho da Teka quebrou...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C535B-9C04-488A-B06B-311B86F29619}"/>
              </a:ext>
            </a:extLst>
          </p:cNvPr>
          <p:cNvSpPr>
            <a:spLocks noGrp="1"/>
          </p:cNvSpPr>
          <p:nvPr/>
        </p:nvSpPr>
        <p:spPr>
          <a:xfrm>
            <a:off x="777240" y="1417320"/>
            <a:ext cx="27432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F4C84-10F3-41D3-9F5F-884A130A0FB6}"/>
              </a:ext>
            </a:extLst>
          </p:cNvPr>
          <p:cNvSpPr>
            <a:spLocks noGrp="1"/>
          </p:cNvSpPr>
          <p:nvPr/>
        </p:nvSpPr>
        <p:spPr>
          <a:xfrm>
            <a:off x="3657600" y="1371600"/>
            <a:ext cx="7223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E64637"/>
                </a:solidFill>
                <a:latin typeface="Aptos Display"/>
                <a:ea typeface="Aptos Display"/>
                <a:cs typeface="Aptos Display"/>
              </a:rPr>
              <a:t>E AGORA?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7A48954-AEAD-4D45-8F6D-FEDDEC084EC7}"/>
              </a:ext>
            </a:extLst>
          </p:cNvPr>
          <p:cNvSpPr>
            <a:spLocks noGrp="1"/>
          </p:cNvSpPr>
          <p:nvPr/>
        </p:nvSpPr>
        <p:spPr>
          <a:xfrm>
            <a:off x="3749039" y="2377440"/>
            <a:ext cx="32004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0F333-31C8-4C6D-B0F4-11B17A7A309D}"/>
              </a:ext>
            </a:extLst>
          </p:cNvPr>
          <p:cNvSpPr>
            <a:spLocks noGrp="1"/>
          </p:cNvSpPr>
          <p:nvPr/>
        </p:nvSpPr>
        <p:spPr>
          <a:xfrm>
            <a:off x="3913631" y="24871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🗑️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AA4CAB-96FA-4820-9F85-4032499AF778}"/>
              </a:ext>
            </a:extLst>
          </p:cNvPr>
          <p:cNvSpPr>
            <a:spLocks noGrp="1"/>
          </p:cNvSpPr>
          <p:nvPr/>
        </p:nvSpPr>
        <p:spPr>
          <a:xfrm>
            <a:off x="4462271" y="246888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Lixo comum?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454D89-C236-44B8-A3E9-241BB7E9FF7D}"/>
              </a:ext>
            </a:extLst>
          </p:cNvPr>
          <p:cNvSpPr>
            <a:spLocks noGrp="1"/>
          </p:cNvSpPr>
          <p:nvPr/>
        </p:nvSpPr>
        <p:spPr>
          <a:xfrm>
            <a:off x="3931920" y="2990088"/>
            <a:ext cx="283464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Eletrônico quebrado vai junto com restos de comida?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FF282B8-4ED2-459C-B5A0-5F6C83112155}"/>
              </a:ext>
            </a:extLst>
          </p:cNvPr>
          <p:cNvSpPr>
            <a:spLocks noGrp="1"/>
          </p:cNvSpPr>
          <p:nvPr/>
        </p:nvSpPr>
        <p:spPr>
          <a:xfrm>
            <a:off x="7223760" y="2377440"/>
            <a:ext cx="32004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C2E460-E013-474C-9F67-E05942E78002}"/>
              </a:ext>
            </a:extLst>
          </p:cNvPr>
          <p:cNvSpPr>
            <a:spLocks noGrp="1"/>
          </p:cNvSpPr>
          <p:nvPr/>
        </p:nvSpPr>
        <p:spPr>
          <a:xfrm>
            <a:off x="7388352" y="24871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♻️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A1E5C5-7F23-4CC1-932D-A29B413E3D66}"/>
              </a:ext>
            </a:extLst>
          </p:cNvPr>
          <p:cNvSpPr>
            <a:spLocks noGrp="1"/>
          </p:cNvSpPr>
          <p:nvPr/>
        </p:nvSpPr>
        <p:spPr>
          <a:xfrm>
            <a:off x="7936992" y="246888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Ou existe outro caminho?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1073A8-2211-47C9-9648-64DD5CEB8888}"/>
              </a:ext>
            </a:extLst>
          </p:cNvPr>
          <p:cNvSpPr>
            <a:spLocks noGrp="1"/>
          </p:cNvSpPr>
          <p:nvPr/>
        </p:nvSpPr>
        <p:spPr>
          <a:xfrm>
            <a:off x="7406640" y="2990088"/>
            <a:ext cx="283464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A turma vai ajudar a descobrir o destino certo.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0DC8AD1-378C-4EFD-814A-E061E40838BB}"/>
              </a:ext>
            </a:extLst>
          </p:cNvPr>
          <p:cNvSpPr>
            <a:spLocks noGrp="1"/>
          </p:cNvSpPr>
          <p:nvPr/>
        </p:nvSpPr>
        <p:spPr>
          <a:xfrm>
            <a:off x="3520440" y="4983480"/>
            <a:ext cx="5212080" cy="502920"/>
          </a:xfrm>
          <a:prstGeom prst="roundRect">
            <a:avLst/>
          </a:prstGeom>
          <a:solidFill>
            <a:srgbClr val="E1F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6D4D7-AF8B-4AAF-A2E8-C1684743D1F7}"/>
              </a:ext>
            </a:extLst>
          </p:cNvPr>
          <p:cNvSpPr>
            <a:spLocks noGrp="1"/>
          </p:cNvSpPr>
          <p:nvPr/>
        </p:nvSpPr>
        <p:spPr>
          <a:xfrm>
            <a:off x="3520440" y="498348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Pergunte à turma antes de revelar a resposta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C4D06D-FFF4-42AD-93CF-A0083632F7BE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43" name="Imagem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333500"/>
            <a:ext cx="2619375" cy="2619375"/>
          </a:xfrm>
          <a:prstGeom prst="roundRect">
            <a:avLst>
              <a:gd name="adj" fmla="val 5818"/>
            </a:avLst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00F1BCE-F105-45FB-879A-F76C2F76D32D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87413"/>
          </a:bodyPr>
          <a:lstStyle/>
          <a:p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4E0CF8A-D118-4C1B-AA37-C03C1B209180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676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Ops! O aparelho quebrou...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737CEA4-7C76-4F39-8BB3-9746D7F36B18}"/>
              </a:ext>
            </a:extLst>
          </p:cNvPr>
          <p:cNvSpPr>
            <a:spLocks noGrp="1"/>
          </p:cNvSpPr>
          <p:nvPr/>
        </p:nvSpPr>
        <p:spPr>
          <a:xfrm>
            <a:off x="876300" y="1571625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4200" b="1">
                <a:solidFill>
                  <a:srgbClr val="E9483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E94838"/>
                </a:solidFill>
                <a:latin typeface="DejaVu Sans"/>
                <a:ea typeface="DejaVu Sans"/>
                <a:cs typeface="DejaVu Sans"/>
              </a:rPr>
              <a:t>E AGORA?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690C652-7BDA-4515-AD5E-DA228DE5E46C}"/>
              </a:ext>
            </a:extLst>
          </p:cNvPr>
          <p:cNvSpPr>
            <a:spLocks noGrp="1"/>
          </p:cNvSpPr>
          <p:nvPr/>
        </p:nvSpPr>
        <p:spPr>
          <a:xfrm>
            <a:off x="895350" y="2714625"/>
            <a:ext cx="5429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8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Vai para o lixo comum?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1B8859E-1560-4508-A852-C77B414CAB50}"/>
              </a:ext>
            </a:extLst>
          </p:cNvPr>
          <p:cNvSpPr>
            <a:spLocks noGrp="1"/>
          </p:cNvSpPr>
          <p:nvPr/>
        </p:nvSpPr>
        <p:spPr>
          <a:xfrm>
            <a:off x="2333625" y="3857625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A turma vai ajudar a Teka</a:t>
            </a:r>
          </a:p>
          <a:p>
            <a:pPr>
              <a:defRPr sz="20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a descobrir o caminho certo.</a:t>
            </a:r>
          </a:p>
        </p:txBody>
      </p:sp>
    </p:spTree>
    <p:extLst>
      <p:ext uri="{BB962C8B-B14F-4D97-AF65-F5344CB8AC3E}">
        <p14:creationId xmlns:p14="http://schemas.microsoft.com/office/powerpoint/2010/main" val="1833712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3F5814-447D-47D0-9C7C-B6A032BED7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9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7D0AAE-8CA7-4078-91AF-61EF56D6BEB0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D594E-CFB4-4B9A-9AB0-9EB370FC2583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ED8B1-0525-48A9-AB71-D104567AED17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O que é lixo eletrônico?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42D4F-DD99-4051-884A-6CAFE01EA088}"/>
              </a:ext>
            </a:extLst>
          </p:cNvPr>
          <p:cNvSpPr>
            <a:spLocks noGrp="1"/>
          </p:cNvSpPr>
          <p:nvPr/>
        </p:nvSpPr>
        <p:spPr>
          <a:xfrm>
            <a:off x="914400" y="109728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025" b="1">
                <a:solidFill>
                  <a:srgbClr val="246B45"/>
                </a:solidFill>
              </a:defRPr>
            </a:pPr>
            <a:r>
              <a:rPr sz="2025" b="1">
                <a:solidFill>
                  <a:srgbClr val="246B45"/>
                </a:solidFill>
                <a:latin typeface="Aptos Display"/>
                <a:ea typeface="Aptos Display"/>
                <a:cs typeface="Aptos Display"/>
              </a:rPr>
              <a:t>Todo aparelho elétrico ou eletrônico que não será mais usado. Os acessórios também contam!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C4290A9-CD7A-4812-B664-7EA6A367D9A2}"/>
              </a:ext>
            </a:extLst>
          </p:cNvPr>
          <p:cNvSpPr>
            <a:spLocks noGrp="1"/>
          </p:cNvSpPr>
          <p:nvPr/>
        </p:nvSpPr>
        <p:spPr>
          <a:xfrm>
            <a:off x="914400" y="2331720"/>
            <a:ext cx="32461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17CE9-F368-4BE5-B6F1-5388A33FA766}"/>
              </a:ext>
            </a:extLst>
          </p:cNvPr>
          <p:cNvSpPr>
            <a:spLocks noGrp="1"/>
          </p:cNvSpPr>
          <p:nvPr/>
        </p:nvSpPr>
        <p:spPr>
          <a:xfrm>
            <a:off x="1078992" y="24414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EB71B-4F57-4C22-9EE3-8ECBFDD8D77B}"/>
              </a:ext>
            </a:extLst>
          </p:cNvPr>
          <p:cNvSpPr>
            <a:spLocks noGrp="1"/>
          </p:cNvSpPr>
          <p:nvPr/>
        </p:nvSpPr>
        <p:spPr>
          <a:xfrm>
            <a:off x="1627631" y="2423160"/>
            <a:ext cx="23774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Celulares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834733-6AB3-48F5-9BD5-46E97E2792AF}"/>
              </a:ext>
            </a:extLst>
          </p:cNvPr>
          <p:cNvSpPr>
            <a:spLocks noGrp="1"/>
          </p:cNvSpPr>
          <p:nvPr/>
        </p:nvSpPr>
        <p:spPr>
          <a:xfrm>
            <a:off x="4617720" y="2331720"/>
            <a:ext cx="32461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0058E-9862-4AAE-94EA-6ABF3FCCB6B9}"/>
              </a:ext>
            </a:extLst>
          </p:cNvPr>
          <p:cNvSpPr>
            <a:spLocks noGrp="1"/>
          </p:cNvSpPr>
          <p:nvPr/>
        </p:nvSpPr>
        <p:spPr>
          <a:xfrm>
            <a:off x="4782312" y="24414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1E421-0A15-4931-B6DB-AF4C0C32D59F}"/>
              </a:ext>
            </a:extLst>
          </p:cNvPr>
          <p:cNvSpPr>
            <a:spLocks noGrp="1"/>
          </p:cNvSpPr>
          <p:nvPr/>
        </p:nvSpPr>
        <p:spPr>
          <a:xfrm>
            <a:off x="5330951" y="2423160"/>
            <a:ext cx="23774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Computadores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B157D91-F9E7-4485-8843-D6F57DC10CA4}"/>
              </a:ext>
            </a:extLst>
          </p:cNvPr>
          <p:cNvSpPr>
            <a:spLocks noGrp="1"/>
          </p:cNvSpPr>
          <p:nvPr/>
        </p:nvSpPr>
        <p:spPr>
          <a:xfrm>
            <a:off x="8321040" y="2331720"/>
            <a:ext cx="32461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743D6-8254-46FD-AFA3-656291FEDEC8}"/>
              </a:ext>
            </a:extLst>
          </p:cNvPr>
          <p:cNvSpPr>
            <a:spLocks noGrp="1"/>
          </p:cNvSpPr>
          <p:nvPr/>
        </p:nvSpPr>
        <p:spPr>
          <a:xfrm>
            <a:off x="8485632" y="24414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🎮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0C6E7-4846-4F21-9B1A-8504AF1B3679}"/>
              </a:ext>
            </a:extLst>
          </p:cNvPr>
          <p:cNvSpPr>
            <a:spLocks noGrp="1"/>
          </p:cNvSpPr>
          <p:nvPr/>
        </p:nvSpPr>
        <p:spPr>
          <a:xfrm>
            <a:off x="9034272" y="2423160"/>
            <a:ext cx="23774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Videogames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7137594-F5E1-4DB4-B6DF-338E515DEF39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32461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F958E2-2341-4040-9DF5-B93C0D7F2B7B}"/>
              </a:ext>
            </a:extLst>
          </p:cNvPr>
          <p:cNvSpPr>
            <a:spLocks noGrp="1"/>
          </p:cNvSpPr>
          <p:nvPr/>
        </p:nvSpPr>
        <p:spPr>
          <a:xfrm>
            <a:off x="1078992" y="3767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11E97-ADFB-49DD-ABF4-674923FCD58E}"/>
              </a:ext>
            </a:extLst>
          </p:cNvPr>
          <p:cNvSpPr>
            <a:spLocks noGrp="1"/>
          </p:cNvSpPr>
          <p:nvPr/>
        </p:nvSpPr>
        <p:spPr>
          <a:xfrm>
            <a:off x="1627631" y="3749039"/>
            <a:ext cx="23774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Pilhas e baterias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2D6D045-E108-4F6E-BDB5-7C632CE66AB7}"/>
              </a:ext>
            </a:extLst>
          </p:cNvPr>
          <p:cNvSpPr>
            <a:spLocks noGrp="1"/>
          </p:cNvSpPr>
          <p:nvPr/>
        </p:nvSpPr>
        <p:spPr>
          <a:xfrm>
            <a:off x="4617720" y="3657600"/>
            <a:ext cx="32461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4056C8-A244-40C1-8473-99CB706B03C5}"/>
              </a:ext>
            </a:extLst>
          </p:cNvPr>
          <p:cNvSpPr>
            <a:spLocks noGrp="1"/>
          </p:cNvSpPr>
          <p:nvPr/>
        </p:nvSpPr>
        <p:spPr>
          <a:xfrm>
            <a:off x="4782312" y="3767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092C7E-7FB3-44F7-9576-FBA151796650}"/>
              </a:ext>
            </a:extLst>
          </p:cNvPr>
          <p:cNvSpPr>
            <a:spLocks noGrp="1"/>
          </p:cNvSpPr>
          <p:nvPr/>
        </p:nvSpPr>
        <p:spPr>
          <a:xfrm>
            <a:off x="5330951" y="3749039"/>
            <a:ext cx="23774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Cabos e carregadores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C40242B-9DE4-4FFF-96BE-D8CF8CBFDB59}"/>
              </a:ext>
            </a:extLst>
          </p:cNvPr>
          <p:cNvSpPr>
            <a:spLocks noGrp="1"/>
          </p:cNvSpPr>
          <p:nvPr/>
        </p:nvSpPr>
        <p:spPr>
          <a:xfrm>
            <a:off x="8321040" y="3657600"/>
            <a:ext cx="32461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82FD5E-5383-49CF-8C52-5F48D8B497A5}"/>
              </a:ext>
            </a:extLst>
          </p:cNvPr>
          <p:cNvSpPr>
            <a:spLocks noGrp="1"/>
          </p:cNvSpPr>
          <p:nvPr/>
        </p:nvSpPr>
        <p:spPr>
          <a:xfrm>
            <a:off x="8485632" y="3767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🎧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D4A7A1-C2EC-4BDA-9C92-F79E3E974F32}"/>
              </a:ext>
            </a:extLst>
          </p:cNvPr>
          <p:cNvSpPr>
            <a:spLocks noGrp="1"/>
          </p:cNvSpPr>
          <p:nvPr/>
        </p:nvSpPr>
        <p:spPr>
          <a:xfrm>
            <a:off x="9034272" y="3749039"/>
            <a:ext cx="23774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Fones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04105AF-C074-43E4-B8A7-F3407971DDE8}"/>
              </a:ext>
            </a:extLst>
          </p:cNvPr>
          <p:cNvSpPr>
            <a:spLocks noGrp="1"/>
          </p:cNvSpPr>
          <p:nvPr/>
        </p:nvSpPr>
        <p:spPr>
          <a:xfrm>
            <a:off x="2971800" y="5257800"/>
            <a:ext cx="6217920" cy="502920"/>
          </a:xfrm>
          <a:prstGeom prst="roundRect">
            <a:avLst/>
          </a:prstGeom>
          <a:solidFill>
            <a:srgbClr val="FFE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A56C6E-EF5A-4D2A-B541-4F94D3008338}"/>
              </a:ext>
            </a:extLst>
          </p:cNvPr>
          <p:cNvSpPr>
            <a:spLocks noGrp="1"/>
          </p:cNvSpPr>
          <p:nvPr/>
        </p:nvSpPr>
        <p:spPr>
          <a:xfrm>
            <a:off x="2971800" y="525780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Nem tudo que é pequeno pode ir para o lixo comum.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E7A27C-91F7-47D7-8AB0-0EE9660A6869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61" name="Imagem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4810125"/>
            <a:ext cx="1571625" cy="1571625"/>
          </a:xfrm>
          <a:prstGeom prst="roundRect">
            <a:avLst>
              <a:gd name="adj" fmla="val 9697"/>
            </a:avLst>
          </a:prstGeom>
        </p:spPr>
      </p:pic>
      <p:pic>
        <p:nvPicPr>
          <p:cNvPr id="62" name="Imagem 61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A7E5714B-E77C-4DAE-A3D4-8B6FBFE4DF86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87413"/>
          </a:bodyPr>
          <a:lstStyle/>
          <a:p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DFF905E-94F4-4114-8723-5BFF4CF0D90C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676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O que é lixo eletrônico?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C162CD3-C34A-430D-83BB-753F526BF6F4}"/>
              </a:ext>
            </a:extLst>
          </p:cNvPr>
          <p:cNvSpPr>
            <a:spLocks noGrp="1"/>
          </p:cNvSpPr>
          <p:nvPr/>
        </p:nvSpPr>
        <p:spPr>
          <a:xfrm>
            <a:off x="800100" y="1476375"/>
            <a:ext cx="62865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556"/>
          </a:bodyPr>
          <a:lstStyle/>
          <a:p>
            <a:pPr>
              <a:def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Aparelhos elétricos ou eletrônicos</a:t>
            </a:r>
          </a:p>
          <a:p>
            <a:pPr>
              <a:def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que não serão mais usados.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2D9F9E9-FCC6-4CD0-A573-CA96894EAA12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60483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Celulares, computadores e videogames.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80C9B59-F913-4EB7-9F0A-7FFCDB784B57}"/>
              </a:ext>
            </a:extLst>
          </p:cNvPr>
          <p:cNvSpPr>
            <a:spLocks noGrp="1"/>
          </p:cNvSpPr>
          <p:nvPr/>
        </p:nvSpPr>
        <p:spPr>
          <a:xfrm>
            <a:off x="2333625" y="3952875"/>
            <a:ext cx="433387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56"/>
          </a:bodyPr>
          <a:lstStyle/>
          <a:p>
            <a:pPr>
              <a:defRPr sz="1950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Cabos, fones, pilhas e baterias</a:t>
            </a:r>
          </a:p>
          <a:p>
            <a:pPr>
              <a:defRPr sz="1950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também contam!</a:t>
            </a:r>
          </a:p>
        </p:txBody>
      </p:sp>
    </p:spTree>
    <p:extLst>
      <p:ext uri="{BB962C8B-B14F-4D97-AF65-F5344CB8AC3E}">
        <p14:creationId xmlns:p14="http://schemas.microsoft.com/office/powerpoint/2010/main" val="29381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D3CF24-17FD-4DC1-92E0-DBC514BACE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E0A3A6-6375-4B48-BEC1-0F1A3DFFDD67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CF723-C441-4C95-B10D-CB523D48BDBD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58F31-6F80-457B-AA2F-3DE36890812B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Por que não jogar no lixo comum?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F1F4438-203E-420B-83F0-F17B3F5656D8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C1FB0-487F-481C-847F-C50F20FD620C}"/>
              </a:ext>
            </a:extLst>
          </p:cNvPr>
          <p:cNvSpPr>
            <a:spLocks noGrp="1"/>
          </p:cNvSpPr>
          <p:nvPr/>
        </p:nvSpPr>
        <p:spPr>
          <a:xfrm>
            <a:off x="850392" y="13441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180D4D-2B57-4706-9E03-5A4FF79F587F}"/>
              </a:ext>
            </a:extLst>
          </p:cNvPr>
          <p:cNvSpPr>
            <a:spLocks noGrp="1"/>
          </p:cNvSpPr>
          <p:nvPr/>
        </p:nvSpPr>
        <p:spPr>
          <a:xfrm>
            <a:off x="1399031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Pode contaminar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171ED1-267B-4A70-B18C-C8EB25FDC937}"/>
              </a:ext>
            </a:extLst>
          </p:cNvPr>
          <p:cNvSpPr>
            <a:spLocks noGrp="1"/>
          </p:cNvSpPr>
          <p:nvPr/>
        </p:nvSpPr>
        <p:spPr>
          <a:xfrm>
            <a:off x="868680" y="1847088"/>
            <a:ext cx="3063240" cy="27614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Peças descartadas do jeito errado podem contaminar o ambiente.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7F6BFC9-03D8-4EF4-8DD6-FB8DE2807664}"/>
              </a:ext>
            </a:extLst>
          </p:cNvPr>
          <p:cNvSpPr>
            <a:spLocks noGrp="1"/>
          </p:cNvSpPr>
          <p:nvPr/>
        </p:nvSpPr>
        <p:spPr>
          <a:xfrm>
            <a:off x="4389120" y="123444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B94D9-B052-49A5-AADE-B6A623A9152F}"/>
              </a:ext>
            </a:extLst>
          </p:cNvPr>
          <p:cNvSpPr>
            <a:spLocks noGrp="1"/>
          </p:cNvSpPr>
          <p:nvPr/>
        </p:nvSpPr>
        <p:spPr>
          <a:xfrm>
            <a:off x="4553712" y="13441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♻️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8A608-5575-4721-96C3-9A4C58A5EBE1}"/>
              </a:ext>
            </a:extLst>
          </p:cNvPr>
          <p:cNvSpPr>
            <a:spLocks noGrp="1"/>
          </p:cNvSpPr>
          <p:nvPr/>
        </p:nvSpPr>
        <p:spPr>
          <a:xfrm>
            <a:off x="5102351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Desperdiça materiais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4953F1-4063-46BB-85BF-1B03FFF61304}"/>
              </a:ext>
            </a:extLst>
          </p:cNvPr>
          <p:cNvSpPr>
            <a:spLocks noGrp="1"/>
          </p:cNvSpPr>
          <p:nvPr/>
        </p:nvSpPr>
        <p:spPr>
          <a:xfrm>
            <a:off x="4572000" y="1847088"/>
            <a:ext cx="3063240" cy="27614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Metais e plásticos podem ser reaproveitados.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8657602-CD0C-4116-9652-7A9D637E19AA}"/>
              </a:ext>
            </a:extLst>
          </p:cNvPr>
          <p:cNvSpPr>
            <a:spLocks noGrp="1"/>
          </p:cNvSpPr>
          <p:nvPr/>
        </p:nvSpPr>
        <p:spPr>
          <a:xfrm>
            <a:off x="8092440" y="1234440"/>
            <a:ext cx="34290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99A508-04EA-40E7-B261-DC2F5F04C0A4}"/>
              </a:ext>
            </a:extLst>
          </p:cNvPr>
          <p:cNvSpPr>
            <a:spLocks noGrp="1"/>
          </p:cNvSpPr>
          <p:nvPr/>
        </p:nvSpPr>
        <p:spPr>
          <a:xfrm>
            <a:off x="8257031" y="13441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⚠️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EBA5CA-CE63-4889-B699-E44D72CABA6C}"/>
              </a:ext>
            </a:extLst>
          </p:cNvPr>
          <p:cNvSpPr>
            <a:spLocks noGrp="1"/>
          </p:cNvSpPr>
          <p:nvPr/>
        </p:nvSpPr>
        <p:spPr>
          <a:xfrm>
            <a:off x="8805672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Pode trazer riscos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3522B8-9DE4-4A11-ABC3-E137D982DADB}"/>
              </a:ext>
            </a:extLst>
          </p:cNvPr>
          <p:cNvSpPr>
            <a:spLocks noGrp="1"/>
          </p:cNvSpPr>
          <p:nvPr/>
        </p:nvSpPr>
        <p:spPr>
          <a:xfrm>
            <a:off x="8275319" y="1847088"/>
            <a:ext cx="3063240" cy="27614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Pilhas e baterias precisam de cuidado especial.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93DE647-0CD6-4FE9-879A-948ED1AE3809}"/>
              </a:ext>
            </a:extLst>
          </p:cNvPr>
          <p:cNvSpPr>
            <a:spLocks noGrp="1"/>
          </p:cNvSpPr>
          <p:nvPr/>
        </p:nvSpPr>
        <p:spPr>
          <a:xfrm>
            <a:off x="2743200" y="5166360"/>
            <a:ext cx="6675120" cy="502920"/>
          </a:xfrm>
          <a:prstGeom prst="roundRect">
            <a:avLst/>
          </a:prstGeom>
          <a:solidFill>
            <a:srgbClr val="E1F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18502B-4023-4ED9-83D1-4E01835CE277}"/>
              </a:ext>
            </a:extLst>
          </p:cNvPr>
          <p:cNvSpPr>
            <a:spLocks noGrp="1"/>
          </p:cNvSpPr>
          <p:nvPr/>
        </p:nvSpPr>
        <p:spPr>
          <a:xfrm>
            <a:off x="2743200" y="5166360"/>
            <a:ext cx="6675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Cuidar do descarte é cuidar do ambiente e da saúde.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1FDCCE-1335-4C12-95AF-819E33110142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47" name="Imagem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63125" y="4810125"/>
            <a:ext cx="1619250" cy="1619250"/>
          </a:xfrm>
          <a:prstGeom prst="roundRect">
            <a:avLst>
              <a:gd name="adj" fmla="val 9412"/>
            </a:avLst>
          </a:prstGeom>
        </p:spPr>
      </p:pic>
      <p:pic>
        <p:nvPicPr>
          <p:cNvPr id="48" name="Imagem 47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02790CC-6CAB-48CA-87D0-B901233A3312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87413"/>
          </a:bodyPr>
          <a:lstStyle/>
          <a:p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46A534B-5F2D-4CBD-8D5C-D39BB38D4BA6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513"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Por que não vai no lixo comum?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37622E6-D005-4CF0-9AF3-B4D7F645D7F4}"/>
              </a:ext>
            </a:extLst>
          </p:cNvPr>
          <p:cNvSpPr>
            <a:spLocks noGrp="1"/>
          </p:cNvSpPr>
          <p:nvPr/>
        </p:nvSpPr>
        <p:spPr>
          <a:xfrm>
            <a:off x="838200" y="1381125"/>
            <a:ext cx="5334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7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PODE CONTAMINAR</a:t>
            </a:r>
          </a:p>
          <a:p>
            <a:pPr>
              <a:defRPr sz="27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o ambiente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69A73D9-B2B7-4C3F-9DAB-2ABF7D54ABB2}"/>
              </a:ext>
            </a:extLst>
          </p:cNvPr>
          <p:cNvSpPr>
            <a:spLocks noGrp="1"/>
          </p:cNvSpPr>
          <p:nvPr/>
        </p:nvSpPr>
        <p:spPr>
          <a:xfrm>
            <a:off x="838200" y="2714625"/>
            <a:ext cx="61912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DESPERDIÇA MATERIAIS</a:t>
            </a:r>
          </a:p>
          <a:p>
            <a:pPr>
              <a:defRPr sz="2400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que poderiam ser reaproveitados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D42A48A-840F-4284-B7C1-B829C36611A2}"/>
              </a:ext>
            </a:extLst>
          </p:cNvPr>
          <p:cNvSpPr>
            <a:spLocks noGrp="1"/>
          </p:cNvSpPr>
          <p:nvPr/>
        </p:nvSpPr>
        <p:spPr>
          <a:xfrm>
            <a:off x="2381250" y="4095750"/>
            <a:ext cx="4333875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253"/>
          </a:bodyPr>
          <a:lstStyle/>
          <a:p>
            <a:pPr>
              <a:def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PILHAS E BATERIAS</a:t>
            </a:r>
          </a:p>
          <a:p>
            <a:pPr>
              <a:def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precisam de cuidado especial</a:t>
            </a:r>
          </a:p>
        </p:txBody>
      </p:sp>
    </p:spTree>
    <p:extLst>
      <p:ext uri="{BB962C8B-B14F-4D97-AF65-F5344CB8AC3E}">
        <p14:creationId xmlns:p14="http://schemas.microsoft.com/office/powerpoint/2010/main" val="141248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852FE-C014-42A7-BC5C-844D3F7C3A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852D0CF-A4C2-4730-983E-D264D3C1F72B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DFB750-A79F-427F-87D3-CFBE966361ED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B3103-22BD-476C-AA9B-F7BAFEA3CFC0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Meio ambiente e saúde estão conectados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68CFA-79E8-4613-B161-6DF280217F17}"/>
              </a:ext>
            </a:extLst>
          </p:cNvPr>
          <p:cNvSpPr>
            <a:spLocks noGrp="1"/>
          </p:cNvSpPr>
          <p:nvPr/>
        </p:nvSpPr>
        <p:spPr>
          <a:xfrm>
            <a:off x="914400" y="1234440"/>
            <a:ext cx="20116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5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60FF4-E6C2-4CEB-8982-DA6EE514BF9E}"/>
              </a:ext>
            </a:extLst>
          </p:cNvPr>
          <p:cNvSpPr>
            <a:spLocks noGrp="1"/>
          </p:cNvSpPr>
          <p:nvPr/>
        </p:nvSpPr>
        <p:spPr>
          <a:xfrm>
            <a:off x="9144000" y="1234440"/>
            <a:ext cx="20116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ABF66-EFAF-4307-BD5F-5E82F2B57E6C}"/>
              </a:ext>
            </a:extLst>
          </p:cNvPr>
          <p:cNvSpPr>
            <a:spLocks noGrp="1"/>
          </p:cNvSpPr>
          <p:nvPr/>
        </p:nvSpPr>
        <p:spPr>
          <a:xfrm>
            <a:off x="3749039" y="1325880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DESCARTE CORRETO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8F13F-2A53-4C1A-9C8E-CB25ED07A63D}"/>
              </a:ext>
            </a:extLst>
          </p:cNvPr>
          <p:cNvSpPr>
            <a:spLocks noGrp="1"/>
          </p:cNvSpPr>
          <p:nvPr/>
        </p:nvSpPr>
        <p:spPr>
          <a:xfrm>
            <a:off x="3794760" y="2148840"/>
            <a:ext cx="457200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875" b="1">
                <a:solidFill>
                  <a:srgbClr val="355649"/>
                </a:solidFill>
              </a:defRPr>
            </a:pPr>
            <a:r>
              <a:rPr sz="1875" b="1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menos contaminação</a:t>
            </a:r>
          </a:p>
          <a:p>
            <a:pPr algn="ctr">
              <a:buNone/>
            </a:pPr>
            <a:endParaRPr sz="1875" b="1">
              <a:solidFill>
                <a:srgbClr val="355649"/>
              </a:solidFill>
              <a:latin typeface="Aptos Display"/>
              <a:ea typeface="Aptos Display"/>
              <a:cs typeface="Aptos Display"/>
            </a:endParaRPr>
          </a:p>
          <a:p>
            <a:pPr algn="ctr">
              <a:buNone/>
              <a:defRPr sz="1875" b="1">
                <a:solidFill>
                  <a:srgbClr val="355649"/>
                </a:solidFill>
              </a:defRPr>
            </a:pPr>
            <a:r>
              <a:rPr sz="1875" b="1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mais reaproveitamento</a:t>
            </a:r>
          </a:p>
          <a:p>
            <a:pPr algn="ctr">
              <a:buNone/>
            </a:pPr>
            <a:endParaRPr sz="1875" b="1">
              <a:solidFill>
                <a:srgbClr val="355649"/>
              </a:solidFill>
              <a:latin typeface="Aptos Display"/>
              <a:ea typeface="Aptos Display"/>
              <a:cs typeface="Aptos Display"/>
            </a:endParaRPr>
          </a:p>
          <a:p>
            <a:pPr algn="ctr">
              <a:buNone/>
              <a:defRPr sz="1875" b="1">
                <a:solidFill>
                  <a:srgbClr val="355649"/>
                </a:solidFill>
              </a:defRPr>
            </a:pPr>
            <a:r>
              <a:rPr sz="1875" b="1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mais cuidado com a saúde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8F6369-F982-4948-B301-DCE971EBA690}"/>
              </a:ext>
            </a:extLst>
          </p:cNvPr>
          <p:cNvSpPr>
            <a:spLocks noGrp="1"/>
          </p:cNvSpPr>
          <p:nvPr/>
        </p:nvSpPr>
        <p:spPr>
          <a:xfrm>
            <a:off x="2834640" y="5166360"/>
            <a:ext cx="6492240" cy="502920"/>
          </a:xfrm>
          <a:prstGeom prst="roundRect">
            <a:avLst/>
          </a:prstGeom>
          <a:solidFill>
            <a:srgbClr val="FFE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37843-28E8-4FED-BEA4-92C50A155F7F}"/>
              </a:ext>
            </a:extLst>
          </p:cNvPr>
          <p:cNvSpPr>
            <a:spLocks noGrp="1"/>
          </p:cNvSpPr>
          <p:nvPr/>
        </p:nvSpPr>
        <p:spPr>
          <a:xfrm>
            <a:off x="2834640" y="5166360"/>
            <a:ext cx="6492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Tecnologia responsável também é uma forma de cuidado.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698440-230F-43C6-966D-934C37A64941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01125" y="1143000"/>
            <a:ext cx="2428875" cy="2428875"/>
          </a:xfrm>
          <a:prstGeom prst="roundRect">
            <a:avLst>
              <a:gd name="adj" fmla="val 6275"/>
            </a:avLst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D55F9AA-A6E8-4BB9-B5E1-7AC8C536DD46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 fontScale="87413"/>
          </a:bodyPr>
          <a:lstStyle/>
          <a:p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9EC6343-409D-4D62-8CEB-10802BE398BF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7524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030"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Ambiente e saúde estão conectados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D905B5-805F-4824-A388-AEF58E046C74}"/>
              </a:ext>
            </a:extLst>
          </p:cNvPr>
          <p:cNvSpPr>
            <a:spLocks noGrp="1"/>
          </p:cNvSpPr>
          <p:nvPr/>
        </p:nvSpPr>
        <p:spPr>
          <a:xfrm>
            <a:off x="838200" y="1476375"/>
            <a:ext cx="5905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3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DESCARTE CORRETO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DFD7872-693A-4C2F-A860-D3B398E5F5CC}"/>
              </a:ext>
            </a:extLst>
          </p:cNvPr>
          <p:cNvSpPr>
            <a:spLocks noGrp="1"/>
          </p:cNvSpPr>
          <p:nvPr/>
        </p:nvSpPr>
        <p:spPr>
          <a:xfrm>
            <a:off x="876300" y="2619375"/>
            <a:ext cx="57150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7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menos contaminação</a:t>
            </a:r>
          </a:p>
          <a:p>
            <a:pPr>
              <a:defRPr sz="247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mais reaproveitamento</a:t>
            </a:r>
          </a:p>
          <a:p>
            <a:pPr>
              <a:defRPr sz="247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mais cuidado com a saúde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FD68FED-A84C-41FD-A878-F5D9F04E0EEF}"/>
              </a:ext>
            </a:extLst>
          </p:cNvPr>
          <p:cNvSpPr>
            <a:spLocks noGrp="1"/>
          </p:cNvSpPr>
          <p:nvPr/>
        </p:nvSpPr>
        <p:spPr>
          <a:xfrm>
            <a:off x="1714500" y="4810125"/>
            <a:ext cx="4476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Tecnologia responsável</a:t>
            </a:r>
          </a:p>
          <a:p>
            <a:pPr>
              <a:defRPr sz="1950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também é cuidado.</a:t>
            </a:r>
          </a:p>
        </p:txBody>
      </p:sp>
    </p:spTree>
    <p:extLst>
      <p:ext uri="{BB962C8B-B14F-4D97-AF65-F5344CB8AC3E}">
        <p14:creationId xmlns:p14="http://schemas.microsoft.com/office/powerpoint/2010/main" val="1518570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D62592-4F38-4F4F-B62D-E2E58FF43F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9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7F8D43A-93F8-4F5E-906A-5DF8181B4BC3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6BEE2-427C-4749-9CB5-BCBA095B9277}"/>
              </a:ext>
            </a:extLst>
          </p:cNvPr>
          <p:cNvSpPr>
            <a:spLocks noGrp="1"/>
          </p:cNvSpPr>
          <p:nvPr/>
        </p:nvSpPr>
        <p:spPr>
          <a:xfrm>
            <a:off x="142875" y="164592"/>
            <a:ext cx="685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A8E19-EF6C-43FC-87FF-4BBEFB5775CE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A Teka encontrou a solução!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603D48-6F8D-4B69-AF28-307DAA40EC9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4795E0-37FB-4C76-95C2-28C8156B378F}"/>
              </a:ext>
            </a:extLst>
          </p:cNvPr>
          <p:cNvSpPr>
            <a:spLocks noGrp="1"/>
          </p:cNvSpPr>
          <p:nvPr/>
        </p:nvSpPr>
        <p:spPr>
          <a:xfrm>
            <a:off x="1508760" y="1572768"/>
            <a:ext cx="822960" cy="822960"/>
          </a:xfrm>
          <a:prstGeom prst="ellipse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42307-454E-4F19-BF50-6E1B27F47949}"/>
              </a:ext>
            </a:extLst>
          </p:cNvPr>
          <p:cNvSpPr>
            <a:spLocks noGrp="1"/>
          </p:cNvSpPr>
          <p:nvPr/>
        </p:nvSpPr>
        <p:spPr>
          <a:xfrm>
            <a:off x="1508760" y="157276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78952-BA9C-48C6-9DCF-5CF0E7527696}"/>
              </a:ext>
            </a:extLst>
          </p:cNvPr>
          <p:cNvSpPr>
            <a:spLocks noGrp="1"/>
          </p:cNvSpPr>
          <p:nvPr/>
        </p:nvSpPr>
        <p:spPr>
          <a:xfrm>
            <a:off x="822959" y="2560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REUTILIZAR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60C4B-77D4-4B15-BE70-9AA7436EA05A}"/>
              </a:ext>
            </a:extLst>
          </p:cNvPr>
          <p:cNvSpPr>
            <a:spLocks noGrp="1"/>
          </p:cNvSpPr>
          <p:nvPr/>
        </p:nvSpPr>
        <p:spPr>
          <a:xfrm>
            <a:off x="868680" y="3127248"/>
            <a:ext cx="2103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21342D"/>
                </a:solidFill>
                <a:latin typeface="Aptos Display"/>
                <a:ea typeface="Aptos Display"/>
                <a:cs typeface="Aptos Display"/>
              </a:rPr>
              <a:t>Se ainda funciona, podemos continuar usando.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B4E554-9472-4DD9-8205-F31D6698BAC9}"/>
              </a:ext>
            </a:extLst>
          </p:cNvPr>
          <p:cNvSpPr>
            <a:spLocks noGrp="1"/>
          </p:cNvSpPr>
          <p:nvPr/>
        </p:nvSpPr>
        <p:spPr>
          <a:xfrm>
            <a:off x="3520439" y="141732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A36586-951E-477C-954C-6F883CAFE1C4}"/>
              </a:ext>
            </a:extLst>
          </p:cNvPr>
          <p:cNvSpPr>
            <a:spLocks noGrp="1"/>
          </p:cNvSpPr>
          <p:nvPr/>
        </p:nvSpPr>
        <p:spPr>
          <a:xfrm>
            <a:off x="4389120" y="1572768"/>
            <a:ext cx="822960" cy="822960"/>
          </a:xfrm>
          <a:prstGeom prst="ellipse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591E5C-F7EF-4CE1-8357-E2AF5C34FB41}"/>
              </a:ext>
            </a:extLst>
          </p:cNvPr>
          <p:cNvSpPr>
            <a:spLocks noGrp="1"/>
          </p:cNvSpPr>
          <p:nvPr/>
        </p:nvSpPr>
        <p:spPr>
          <a:xfrm>
            <a:off x="4389120" y="157276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57CF49-E541-4CE1-AD86-301BFFEB3BD3}"/>
              </a:ext>
            </a:extLst>
          </p:cNvPr>
          <p:cNvSpPr>
            <a:spLocks noGrp="1"/>
          </p:cNvSpPr>
          <p:nvPr/>
        </p:nvSpPr>
        <p:spPr>
          <a:xfrm>
            <a:off x="3703320" y="2560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CONSERTAR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4DAB3-8118-48C1-84C5-99BD2E616FC0}"/>
              </a:ext>
            </a:extLst>
          </p:cNvPr>
          <p:cNvSpPr>
            <a:spLocks noGrp="1"/>
          </p:cNvSpPr>
          <p:nvPr/>
        </p:nvSpPr>
        <p:spPr>
          <a:xfrm>
            <a:off x="3749039" y="3127248"/>
            <a:ext cx="2103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21342D"/>
                </a:solidFill>
                <a:latin typeface="Aptos Display"/>
                <a:ea typeface="Aptos Display"/>
                <a:cs typeface="Aptos Display"/>
              </a:rPr>
              <a:t>Um reparo pode aumentar a vida do aparelho.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FD7027A-FFB0-421A-91A3-39332EE0D114}"/>
              </a:ext>
            </a:extLst>
          </p:cNvPr>
          <p:cNvSpPr>
            <a:spLocks noGrp="1"/>
          </p:cNvSpPr>
          <p:nvPr/>
        </p:nvSpPr>
        <p:spPr>
          <a:xfrm>
            <a:off x="6400800" y="141732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25D8F13-917D-4B2C-ACB2-A4CCF2A41111}"/>
              </a:ext>
            </a:extLst>
          </p:cNvPr>
          <p:cNvSpPr>
            <a:spLocks noGrp="1"/>
          </p:cNvSpPr>
          <p:nvPr/>
        </p:nvSpPr>
        <p:spPr>
          <a:xfrm>
            <a:off x="7269480" y="1572768"/>
            <a:ext cx="822960" cy="822960"/>
          </a:xfrm>
          <a:prstGeom prst="ellipse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1D1E8-B5BA-4F46-B6AB-FE85BCA6B508}"/>
              </a:ext>
            </a:extLst>
          </p:cNvPr>
          <p:cNvSpPr>
            <a:spLocks noGrp="1"/>
          </p:cNvSpPr>
          <p:nvPr/>
        </p:nvSpPr>
        <p:spPr>
          <a:xfrm>
            <a:off x="7269480" y="157276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149B6B-1A05-4B49-9302-2055B0252FFE}"/>
              </a:ext>
            </a:extLst>
          </p:cNvPr>
          <p:cNvSpPr>
            <a:spLocks noGrp="1"/>
          </p:cNvSpPr>
          <p:nvPr/>
        </p:nvSpPr>
        <p:spPr>
          <a:xfrm>
            <a:off x="6583680" y="2560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DOAR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505FEC-BA67-4621-A727-A2D0EC3B2D86}"/>
              </a:ext>
            </a:extLst>
          </p:cNvPr>
          <p:cNvSpPr>
            <a:spLocks noGrp="1"/>
          </p:cNvSpPr>
          <p:nvPr/>
        </p:nvSpPr>
        <p:spPr>
          <a:xfrm>
            <a:off x="6629400" y="3127248"/>
            <a:ext cx="2103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21342D"/>
                </a:solidFill>
                <a:latin typeface="Aptos Display"/>
                <a:ea typeface="Aptos Display"/>
                <a:cs typeface="Aptos Display"/>
              </a:rPr>
              <a:t>Se funciona, outra pessoa pode aproveitar.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D2B5FA2-15CF-429D-B8DA-E9E07C712639}"/>
              </a:ext>
            </a:extLst>
          </p:cNvPr>
          <p:cNvSpPr>
            <a:spLocks noGrp="1"/>
          </p:cNvSpPr>
          <p:nvPr/>
        </p:nvSpPr>
        <p:spPr>
          <a:xfrm>
            <a:off x="9281159" y="141732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DD2E56E-825B-421C-90A9-7FEB2D62963D}"/>
              </a:ext>
            </a:extLst>
          </p:cNvPr>
          <p:cNvSpPr>
            <a:spLocks noGrp="1"/>
          </p:cNvSpPr>
          <p:nvPr/>
        </p:nvSpPr>
        <p:spPr>
          <a:xfrm>
            <a:off x="10149839" y="1572768"/>
            <a:ext cx="822960" cy="822960"/>
          </a:xfrm>
          <a:prstGeom prst="ellipse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CDDBC3-FE06-43E7-8676-C523D19D0F4D}"/>
              </a:ext>
            </a:extLst>
          </p:cNvPr>
          <p:cNvSpPr>
            <a:spLocks noGrp="1"/>
          </p:cNvSpPr>
          <p:nvPr/>
        </p:nvSpPr>
        <p:spPr>
          <a:xfrm>
            <a:off x="10149839" y="1572768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1E6B84-3CD4-43E6-90CB-B0921CA97859}"/>
              </a:ext>
            </a:extLst>
          </p:cNvPr>
          <p:cNvSpPr>
            <a:spLocks noGrp="1"/>
          </p:cNvSpPr>
          <p:nvPr/>
        </p:nvSpPr>
        <p:spPr>
          <a:xfrm>
            <a:off x="9464039" y="2560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DESCARTAR CERTO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B6D5B2-6AC4-484F-9C27-62E63618C274}"/>
              </a:ext>
            </a:extLst>
          </p:cNvPr>
          <p:cNvSpPr>
            <a:spLocks noGrp="1"/>
          </p:cNvSpPr>
          <p:nvPr/>
        </p:nvSpPr>
        <p:spPr>
          <a:xfrm>
            <a:off x="9509759" y="3127248"/>
            <a:ext cx="2103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0">
                <a:solidFill>
                  <a:srgbClr val="21342D"/>
                </a:solidFill>
                <a:latin typeface="Aptos Display"/>
                <a:ea typeface="Aptos Display"/>
                <a:cs typeface="Aptos Display"/>
              </a:rPr>
              <a:t>No fim da vida útil, leve a um ponto de coleta adequado.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E19BEAA-99BE-4FF6-8151-1138FCFA003A}"/>
              </a:ext>
            </a:extLst>
          </p:cNvPr>
          <p:cNvSpPr>
            <a:spLocks noGrp="1"/>
          </p:cNvSpPr>
          <p:nvPr/>
        </p:nvSpPr>
        <p:spPr>
          <a:xfrm>
            <a:off x="2468880" y="5166360"/>
            <a:ext cx="7223760" cy="502920"/>
          </a:xfrm>
          <a:prstGeom prst="roundRect">
            <a:avLst/>
          </a:prstGeom>
          <a:solidFill>
            <a:srgbClr val="E1F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0B4B72-4B5B-42F9-B9A1-01442D47E49C}"/>
              </a:ext>
            </a:extLst>
          </p:cNvPr>
          <p:cNvSpPr>
            <a:spLocks noGrp="1"/>
          </p:cNvSpPr>
          <p:nvPr/>
        </p:nvSpPr>
        <p:spPr>
          <a:xfrm>
            <a:off x="2468880" y="5166360"/>
            <a:ext cx="7223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Antes de jogar fora, pense: ainda dá para usar de outra forma?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FFF07C-E70F-42EA-95D2-5BD354AB8AC2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4810125"/>
            <a:ext cx="1571625" cy="1571625"/>
          </a:xfrm>
          <a:prstGeom prst="roundRect">
            <a:avLst>
              <a:gd name="adj" fmla="val 9697"/>
            </a:avLst>
          </a:prstGeom>
        </p:spPr>
      </p:pic>
      <p:pic>
        <p:nvPicPr>
          <p:cNvPr id="63" name="Imagem 62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1532D7FA-17BE-41A6-8362-22A5FBCC4AF5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575B2D9-4750-4524-8BAD-6C778FCDA611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7620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977"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A Teka encontrou quatro caminhos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554E49-98C9-430D-B416-4C74E2254038}"/>
              </a:ext>
            </a:extLst>
          </p:cNvPr>
          <p:cNvSpPr>
            <a:spLocks noGrp="1"/>
          </p:cNvSpPr>
          <p:nvPr/>
        </p:nvSpPr>
        <p:spPr>
          <a:xfrm>
            <a:off x="838200" y="1381125"/>
            <a:ext cx="581025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9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1  REUTILIZAR</a:t>
            </a:r>
          </a:p>
          <a:p>
            <a:pPr>
              <a:defRPr sz="29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2  CONSERTAR</a:t>
            </a:r>
          </a:p>
          <a:p>
            <a:pPr>
              <a:defRPr sz="29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3  DOAR</a:t>
            </a:r>
          </a:p>
          <a:p>
            <a:pPr>
              <a:defRPr sz="292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4  DESCARTAR CERTO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232F87E9-5FC5-4E66-8BCA-88472B654347}"/>
              </a:ext>
            </a:extLst>
          </p:cNvPr>
          <p:cNvSpPr>
            <a:spLocks noGrp="1"/>
          </p:cNvSpPr>
          <p:nvPr/>
        </p:nvSpPr>
        <p:spPr>
          <a:xfrm>
            <a:off x="1143000" y="4238625"/>
            <a:ext cx="5334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Antes de jogar fora, pense:</a:t>
            </a:r>
          </a:p>
          <a:p>
            <a:pPr>
              <a:defRPr sz="202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ainda dá para usar de outra forma?</a:t>
            </a:r>
          </a:p>
        </p:txBody>
      </p:sp>
    </p:spTree>
    <p:extLst>
      <p:ext uri="{BB962C8B-B14F-4D97-AF65-F5344CB8AC3E}">
        <p14:creationId xmlns:p14="http://schemas.microsoft.com/office/powerpoint/2010/main" val="70456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49A5D-738C-43FE-9BEF-06E3CE0E1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9E8FE7E-DB3E-4E91-A3D8-0E14D846C545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DEC2A-F464-4790-B1DF-C9CAE04365EA}"/>
              </a:ext>
            </a:extLst>
          </p:cNvPr>
          <p:cNvSpPr>
            <a:spLocks noGrp="1"/>
          </p:cNvSpPr>
          <p:nvPr/>
        </p:nvSpPr>
        <p:spPr>
          <a:xfrm>
            <a:off x="142875" y="164592"/>
            <a:ext cx="685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B633A-5614-4483-BADB-90C86574928B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Onde levar o lixo eletrônico?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03699-A53A-49C4-9956-BC3F6AF83F4B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18288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AB3C4A-DB49-47B7-BD6A-538F460AF0DB}"/>
              </a:ext>
            </a:extLst>
          </p:cNvPr>
          <p:cNvSpPr>
            <a:spLocks noGrp="1"/>
          </p:cNvSpPr>
          <p:nvPr/>
        </p:nvSpPr>
        <p:spPr>
          <a:xfrm>
            <a:off x="2743200" y="1188720"/>
            <a:ext cx="3749039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0FA4D-3E91-4EE1-926A-43D12DE0788C}"/>
              </a:ext>
            </a:extLst>
          </p:cNvPr>
          <p:cNvSpPr>
            <a:spLocks noGrp="1"/>
          </p:cNvSpPr>
          <p:nvPr/>
        </p:nvSpPr>
        <p:spPr>
          <a:xfrm>
            <a:off x="2907792" y="12984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♻️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2BE2-D7F6-4E63-BA96-DE8C73E83D70}"/>
              </a:ext>
            </a:extLst>
          </p:cNvPr>
          <p:cNvSpPr>
            <a:spLocks noGrp="1"/>
          </p:cNvSpPr>
          <p:nvPr/>
        </p:nvSpPr>
        <p:spPr>
          <a:xfrm>
            <a:off x="3456432" y="1280160"/>
            <a:ext cx="28803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Pontos de coleta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F4183-9C43-4944-ABA2-D72FFADCB63E}"/>
              </a:ext>
            </a:extLst>
          </p:cNvPr>
          <p:cNvSpPr>
            <a:spLocks noGrp="1"/>
          </p:cNvSpPr>
          <p:nvPr/>
        </p:nvSpPr>
        <p:spPr>
          <a:xfrm>
            <a:off x="2926080" y="1801368"/>
            <a:ext cx="3383279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Locais preparados recebem eletrônicos, pilhas e baterias.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9D843C3-42B5-4728-90E5-9DAA0FED2A47}"/>
              </a:ext>
            </a:extLst>
          </p:cNvPr>
          <p:cNvSpPr>
            <a:spLocks noGrp="1"/>
          </p:cNvSpPr>
          <p:nvPr/>
        </p:nvSpPr>
        <p:spPr>
          <a:xfrm>
            <a:off x="6812280" y="1188720"/>
            <a:ext cx="3749039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20888F-EFC8-41B6-ADFD-FE9DA43E3CCA}"/>
              </a:ext>
            </a:extLst>
          </p:cNvPr>
          <p:cNvSpPr>
            <a:spLocks noGrp="1"/>
          </p:cNvSpPr>
          <p:nvPr/>
        </p:nvSpPr>
        <p:spPr>
          <a:xfrm>
            <a:off x="6976872" y="129844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🏪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6586B0-3B7C-4D98-A412-E5BB5643767D}"/>
              </a:ext>
            </a:extLst>
          </p:cNvPr>
          <p:cNvSpPr>
            <a:spLocks noGrp="1"/>
          </p:cNvSpPr>
          <p:nvPr/>
        </p:nvSpPr>
        <p:spPr>
          <a:xfrm>
            <a:off x="7525512" y="1280160"/>
            <a:ext cx="28803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Logística reversa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62C7D1-8F72-4325-8A01-3142A68D82FC}"/>
              </a:ext>
            </a:extLst>
          </p:cNvPr>
          <p:cNvSpPr>
            <a:spLocks noGrp="1"/>
          </p:cNvSpPr>
          <p:nvPr/>
        </p:nvSpPr>
        <p:spPr>
          <a:xfrm>
            <a:off x="6995160" y="1801368"/>
            <a:ext cx="3383279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725">
                <a:solidFill>
                  <a:srgbClr val="355649"/>
                </a:solidFill>
              </a:defRPr>
            </a:pPr>
            <a:r>
              <a:rPr sz="1725" b="0">
                <a:solidFill>
                  <a:srgbClr val="355649"/>
                </a:solidFill>
                <a:latin typeface="Aptos Display"/>
                <a:ea typeface="Aptos Display"/>
                <a:cs typeface="Aptos Display"/>
              </a:rPr>
              <a:t>Algumas lojas e fabricantes recebem produtos usados.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7853D-A5B5-4596-A172-41574D76A7D9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20955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E64637"/>
                </a:solidFill>
                <a:latin typeface="Aptos Display"/>
                <a:ea typeface="Aptos Display"/>
                <a:cs typeface="Aptos Display"/>
              </a:rPr>
              <a:t>DICA DA TEKA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FD8A38-3D1C-495B-8C60-129220794DD5}"/>
              </a:ext>
            </a:extLst>
          </p:cNvPr>
          <p:cNvSpPr>
            <a:spLocks noGrp="1"/>
          </p:cNvSpPr>
          <p:nvPr/>
        </p:nvSpPr>
        <p:spPr>
          <a:xfrm>
            <a:off x="2971800" y="3409950"/>
            <a:ext cx="7524750" cy="990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  <a:defRPr sz="1875" b="1">
                <a:solidFill>
                  <a:srgbClr val="246B45"/>
                </a:solidFill>
              </a:defRPr>
            </a:pPr>
            <a:r>
              <a:rPr sz="1875" b="1">
                <a:solidFill>
                  <a:srgbClr val="246B45"/>
                </a:solidFill>
                <a:latin typeface="Aptos Display"/>
                <a:ea typeface="Aptos Display"/>
                <a:cs typeface="Aptos Display"/>
              </a:rPr>
              <a:t>Peça ajuda a um adulto para encontrar um ponto de coleta confiável.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306CD81-43FC-4C3C-A3ED-A48F8030BFF4}"/>
              </a:ext>
            </a:extLst>
          </p:cNvPr>
          <p:cNvSpPr>
            <a:spLocks noGrp="1"/>
          </p:cNvSpPr>
          <p:nvPr/>
        </p:nvSpPr>
        <p:spPr>
          <a:xfrm>
            <a:off x="3200400" y="5074920"/>
            <a:ext cx="5806440" cy="50292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95C2C7-97DB-4CD6-87EB-6B194F595148}"/>
              </a:ext>
            </a:extLst>
          </p:cNvPr>
          <p:cNvSpPr>
            <a:spLocks noGrp="1"/>
          </p:cNvSpPr>
          <p:nvPr/>
        </p:nvSpPr>
        <p:spPr>
          <a:xfrm>
            <a:off x="3200400" y="5074920"/>
            <a:ext cx="5806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E64637"/>
                </a:solidFill>
                <a:latin typeface="Aptos Display"/>
                <a:ea typeface="Aptos Display"/>
                <a:cs typeface="Aptos Display"/>
              </a:rPr>
              <a:t>Nunca abra pilhas, baterias ou aparelhos quebrados.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2A458-AA1B-45E5-AD88-D1CA2469895D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46" name="Imagem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375" y="1095375"/>
            <a:ext cx="2190750" cy="2190750"/>
          </a:xfrm>
          <a:prstGeom prst="roundRect">
            <a:avLst>
              <a:gd name="adj" fmla="val 6957"/>
            </a:avLst>
          </a:prstGeom>
        </p:spPr>
      </p:pic>
      <p:pic>
        <p:nvPicPr>
          <p:cNvPr id="47" name="Imagem 46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4E8DF7BB-FAC3-4C76-BA58-365BD1B30C1B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2783A23-5813-4BF3-AD5A-AFC9006A40EF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Onde levar o lixo eletrônico?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170372A-CE44-4B01-B105-12EC5DD2228F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0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PONTOS DE COLETA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4C7C626-14FC-40E5-B2DC-39AD19445338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810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Algumas lojas e fabricantes</a:t>
            </a:r>
          </a:p>
          <a:p>
            <a:pPr>
              <a:defRPr sz="217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também recebem produtos usados.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4DA3595-32B8-4498-BCD6-A030ADA18104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5334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Peça ajuda a um adulto.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D207AC1-C095-4D66-BA50-EE763CC5F748}"/>
              </a:ext>
            </a:extLst>
          </p:cNvPr>
          <p:cNvSpPr>
            <a:spLocks noGrp="1"/>
          </p:cNvSpPr>
          <p:nvPr/>
        </p:nvSpPr>
        <p:spPr>
          <a:xfrm>
            <a:off x="1428750" y="4572000"/>
            <a:ext cx="5048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E9483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94838"/>
                </a:solidFill>
                <a:latin typeface="DejaVu Sans"/>
                <a:ea typeface="DejaVu Sans"/>
                <a:cs typeface="DejaVu Sans"/>
              </a:rPr>
              <a:t>Nunca abra pilhas, baterias</a:t>
            </a:r>
          </a:p>
          <a:p>
            <a:pPr>
              <a:defRPr sz="2025" b="1">
                <a:solidFill>
                  <a:srgbClr val="E9483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94838"/>
                </a:solidFill>
                <a:latin typeface="DejaVu Sans"/>
                <a:ea typeface="DejaVu Sans"/>
                <a:cs typeface="DejaVu Sans"/>
              </a:rPr>
              <a:t>ou aparelhos quebrados.</a:t>
            </a:r>
          </a:p>
        </p:txBody>
      </p:sp>
    </p:spTree>
    <p:extLst>
      <p:ext uri="{BB962C8B-B14F-4D97-AF65-F5344CB8AC3E}">
        <p14:creationId xmlns:p14="http://schemas.microsoft.com/office/powerpoint/2010/main" val="1329910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D7123D-1A22-4413-8C0A-08578F77CB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10C4311-BBFC-4A18-9A37-01F9477E03FE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2B42E-11EF-4581-9035-5FA6B8D2EC46}"/>
              </a:ext>
            </a:extLst>
          </p:cNvPr>
          <p:cNvSpPr>
            <a:spLocks noGrp="1"/>
          </p:cNvSpPr>
          <p:nvPr/>
        </p:nvSpPr>
        <p:spPr>
          <a:xfrm>
            <a:off x="142875" y="164592"/>
            <a:ext cx="685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0F5FE-77A7-4936-A886-DE618B58F92C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E o que isso tem a ver com tecnologia?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D07A2-1C6C-4859-98B7-14DA775561E9}"/>
              </a:ext>
            </a:extLst>
          </p:cNvPr>
          <p:cNvSpPr>
            <a:spLocks noGrp="1"/>
          </p:cNvSpPr>
          <p:nvPr/>
        </p:nvSpPr>
        <p:spPr>
          <a:xfrm>
            <a:off x="2476500" y="1190625"/>
            <a:ext cx="8001000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550" b="1">
                <a:solidFill>
                  <a:srgbClr val="246B45"/>
                </a:solidFill>
              </a:defRPr>
            </a:pPr>
            <a:r>
              <a:rPr sz="2550" b="1">
                <a:solidFill>
                  <a:srgbClr val="246B45"/>
                </a:solidFill>
                <a:latin typeface="Segoe UI Emoji"/>
                <a:ea typeface="Segoe UI Emoji"/>
                <a:cs typeface="Segoe UI Emoji"/>
              </a:rPr>
              <a:t>TECNOLOGIA  +  PLANETA  =  IDEIAS MELHORES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D08B9-8E28-4C9E-A4E2-C5EC3B6CC42F}"/>
              </a:ext>
            </a:extLst>
          </p:cNvPr>
          <p:cNvSpPr>
            <a:spLocks noGrp="1"/>
          </p:cNvSpPr>
          <p:nvPr/>
        </p:nvSpPr>
        <p:spPr>
          <a:xfrm>
            <a:off x="1097280" y="2331720"/>
            <a:ext cx="9966960" cy="883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2100" b="1">
                <a:solidFill>
                  <a:srgbClr val="246B45"/>
                </a:solidFill>
              </a:defRPr>
            </a:pPr>
            <a:r>
              <a:rPr sz="2100" b="1">
                <a:solidFill>
                  <a:srgbClr val="246B45"/>
                </a:solidFill>
                <a:latin typeface="Aptos Display"/>
                <a:ea typeface="Aptos Display"/>
                <a:cs typeface="Aptos Display"/>
              </a:rPr>
              <a:t>Quem cria tecnologia também precisa pensar no impacto que ela causa.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A76A76-2517-4979-8B2C-2F6A48607A4D}"/>
              </a:ext>
            </a:extLst>
          </p:cNvPr>
          <p:cNvSpPr>
            <a:spLocks noGrp="1"/>
          </p:cNvSpPr>
          <p:nvPr/>
        </p:nvSpPr>
        <p:spPr>
          <a:xfrm>
            <a:off x="1097280" y="3337560"/>
            <a:ext cx="30632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19F74-130F-4F98-B1F2-F5CFEB1FB047}"/>
              </a:ext>
            </a:extLst>
          </p:cNvPr>
          <p:cNvSpPr>
            <a:spLocks noGrp="1"/>
          </p:cNvSpPr>
          <p:nvPr/>
        </p:nvSpPr>
        <p:spPr>
          <a:xfrm>
            <a:off x="1261872" y="3447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200F43-C2A4-40FD-BDDC-ACC95E232B46}"/>
              </a:ext>
            </a:extLst>
          </p:cNvPr>
          <p:cNvSpPr>
            <a:spLocks noGrp="1"/>
          </p:cNvSpPr>
          <p:nvPr/>
        </p:nvSpPr>
        <p:spPr>
          <a:xfrm>
            <a:off x="1810512" y="34290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Criar melhor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6A820-46E4-42F0-8F79-480B91E998EE}"/>
              </a:ext>
            </a:extLst>
          </p:cNvPr>
          <p:cNvSpPr>
            <a:spLocks noGrp="1"/>
          </p:cNvSpPr>
          <p:nvPr/>
        </p:nvSpPr>
        <p:spPr>
          <a:xfrm>
            <a:off x="1280160" y="3950208"/>
            <a:ext cx="2697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21342D"/>
                </a:solidFill>
                <a:latin typeface="Aptos Display"/>
                <a:ea typeface="Aptos Display"/>
                <a:cs typeface="Aptos Display"/>
              </a:rPr>
              <a:t>Soluções que usem recursos de forma consciente.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11E6BB-17A4-4BFC-928E-E9F9F677A2AF}"/>
              </a:ext>
            </a:extLst>
          </p:cNvPr>
          <p:cNvSpPr>
            <a:spLocks noGrp="1"/>
          </p:cNvSpPr>
          <p:nvPr/>
        </p:nvSpPr>
        <p:spPr>
          <a:xfrm>
            <a:off x="4572000" y="3337560"/>
            <a:ext cx="30632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FAC13-FB62-48ED-B1F1-731BB10ACE45}"/>
              </a:ext>
            </a:extLst>
          </p:cNvPr>
          <p:cNvSpPr>
            <a:spLocks noGrp="1"/>
          </p:cNvSpPr>
          <p:nvPr/>
        </p:nvSpPr>
        <p:spPr>
          <a:xfrm>
            <a:off x="4736592" y="3447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🛠️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A5CD39-2940-4FF8-A0EE-A034B99331D2}"/>
              </a:ext>
            </a:extLst>
          </p:cNvPr>
          <p:cNvSpPr>
            <a:spLocks noGrp="1"/>
          </p:cNvSpPr>
          <p:nvPr/>
        </p:nvSpPr>
        <p:spPr>
          <a:xfrm>
            <a:off x="5285231" y="34290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Usar melhor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5E0A3A-CB20-4382-99AE-C72D34AFB43B}"/>
              </a:ext>
            </a:extLst>
          </p:cNvPr>
          <p:cNvSpPr>
            <a:spLocks noGrp="1"/>
          </p:cNvSpPr>
          <p:nvPr/>
        </p:nvSpPr>
        <p:spPr>
          <a:xfrm>
            <a:off x="4754880" y="3950208"/>
            <a:ext cx="2697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21342D"/>
                </a:solidFill>
                <a:latin typeface="Aptos Display"/>
                <a:ea typeface="Aptos Display"/>
                <a:cs typeface="Aptos Display"/>
              </a:rPr>
              <a:t>Aumentar a vida útil e evitar desperdícios.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50C73F1-E28E-4241-8F15-8AB4BB036D20}"/>
              </a:ext>
            </a:extLst>
          </p:cNvPr>
          <p:cNvSpPr>
            <a:spLocks noGrp="1"/>
          </p:cNvSpPr>
          <p:nvPr/>
        </p:nvSpPr>
        <p:spPr>
          <a:xfrm>
            <a:off x="8046720" y="3337560"/>
            <a:ext cx="30632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BCA7CA-8F9A-4F2F-98BD-CC12308BDB0C}"/>
              </a:ext>
            </a:extLst>
          </p:cNvPr>
          <p:cNvSpPr>
            <a:spLocks noGrp="1"/>
          </p:cNvSpPr>
          <p:nvPr/>
        </p:nvSpPr>
        <p:spPr>
          <a:xfrm>
            <a:off x="8211312" y="3447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♻️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2496E3-A72B-4738-9490-DF64B6B738FB}"/>
              </a:ext>
            </a:extLst>
          </p:cNvPr>
          <p:cNvSpPr>
            <a:spLocks noGrp="1"/>
          </p:cNvSpPr>
          <p:nvPr/>
        </p:nvSpPr>
        <p:spPr>
          <a:xfrm>
            <a:off x="8759952" y="34290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9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Descartar melhor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4A52EE-81CA-409D-87FB-3883EBA7BDE9}"/>
              </a:ext>
            </a:extLst>
          </p:cNvPr>
          <p:cNvSpPr>
            <a:spLocks noGrp="1"/>
          </p:cNvSpPr>
          <p:nvPr/>
        </p:nvSpPr>
        <p:spPr>
          <a:xfrm>
            <a:off x="8229600" y="3950208"/>
            <a:ext cx="2697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21342D"/>
                </a:solidFill>
                <a:latin typeface="Aptos Display"/>
                <a:ea typeface="Aptos Display"/>
                <a:cs typeface="Aptos Display"/>
              </a:rPr>
              <a:t>Planejar o destino da tecnologia quando ela não serve mais.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D38032-D083-4A33-9EAB-E67FE96E74D6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46" name="Imagem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000125"/>
            <a:ext cx="1714500" cy="1714500"/>
          </a:xfrm>
          <a:prstGeom prst="roundRect">
            <a:avLst>
              <a:gd name="adj" fmla="val 8889"/>
            </a:avLst>
          </a:prstGeom>
        </p:spPr>
      </p:pic>
      <p:pic>
        <p:nvPicPr>
          <p:cNvPr id="47" name="Imagem 46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446B1EC-0D4A-4C74-B71C-B0BF4104CF4E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384C596-7C28-43A2-89A0-B3F9BC35C6AA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7620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96"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Tecnologia também cuida do planeta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CB353CC-42E5-46AC-8A51-9276D927550B}"/>
              </a:ext>
            </a:extLst>
          </p:cNvPr>
          <p:cNvSpPr>
            <a:spLocks noGrp="1"/>
          </p:cNvSpPr>
          <p:nvPr/>
        </p:nvSpPr>
        <p:spPr>
          <a:xfrm>
            <a:off x="838200" y="1476375"/>
            <a:ext cx="581025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CRIAR MELHOR</a:t>
            </a:r>
          </a:p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USAR MELHOR</a:t>
            </a:r>
          </a:p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DESCARTAR MELHOR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23992E7-1004-4FD4-921E-2943A44D90E8}"/>
              </a:ext>
            </a:extLst>
          </p:cNvPr>
          <p:cNvSpPr>
            <a:spLocks noGrp="1"/>
          </p:cNvSpPr>
          <p:nvPr/>
        </p:nvSpPr>
        <p:spPr>
          <a:xfrm>
            <a:off x="1285875" y="4048125"/>
            <a:ext cx="5143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Quem cria tecnologia pensa</a:t>
            </a:r>
          </a:p>
          <a:p>
            <a:pPr>
              <a:defRPr sz="2100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no impacto que ela causa.</a:t>
            </a:r>
          </a:p>
        </p:txBody>
      </p:sp>
    </p:spTree>
    <p:extLst>
      <p:ext uri="{BB962C8B-B14F-4D97-AF65-F5344CB8AC3E}">
        <p14:creationId xmlns:p14="http://schemas.microsoft.com/office/powerpoint/2010/main" val="286651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317D87-C75F-47BB-9294-310839F3F6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9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127D49-1479-4C82-9082-F70A223626D4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C05F1-983D-4F3D-9E7B-2B50672BD23B}"/>
              </a:ext>
            </a:extLst>
          </p:cNvPr>
          <p:cNvSpPr>
            <a:spLocks noGrp="1"/>
          </p:cNvSpPr>
          <p:nvPr/>
        </p:nvSpPr>
        <p:spPr>
          <a:xfrm>
            <a:off x="142875" y="164592"/>
            <a:ext cx="685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C7BE9-1EB5-4176-835E-7D896E17DE73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DESAFIO DA TEKA: onde eu descarto?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333B1F-2D60-452C-97CD-ED2717C01570}"/>
              </a:ext>
            </a:extLst>
          </p:cNvPr>
          <p:cNvSpPr>
            <a:spLocks noGrp="1"/>
          </p:cNvSpPr>
          <p:nvPr/>
        </p:nvSpPr>
        <p:spPr>
          <a:xfrm>
            <a:off x="1005840" y="1051560"/>
            <a:ext cx="10149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A turma vai ajudar a Teka a decidir o destino de cada item!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EB453B-761A-4006-BFC7-78F94A6B14B5}"/>
              </a:ext>
            </a:extLst>
          </p:cNvPr>
          <p:cNvSpPr>
            <a:spLocks noGrp="1"/>
          </p:cNvSpPr>
          <p:nvPr/>
        </p:nvSpPr>
        <p:spPr>
          <a:xfrm>
            <a:off x="822960" y="19202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5E0E0-5228-4298-85F4-DBF8E734A580}"/>
              </a:ext>
            </a:extLst>
          </p:cNvPr>
          <p:cNvSpPr>
            <a:spLocks noGrp="1"/>
          </p:cNvSpPr>
          <p:nvPr/>
        </p:nvSpPr>
        <p:spPr>
          <a:xfrm>
            <a:off x="932688" y="20574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4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74D19-A643-4504-B98F-0CB8B4BEDA3C}"/>
              </a:ext>
            </a:extLst>
          </p:cNvPr>
          <p:cNvSpPr>
            <a:spLocks noGrp="1"/>
          </p:cNvSpPr>
          <p:nvPr/>
        </p:nvSpPr>
        <p:spPr>
          <a:xfrm>
            <a:off x="1645920" y="2121408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Casca de banana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1C06E71-DE25-4A40-ACDB-1E02FC1E033B}"/>
              </a:ext>
            </a:extLst>
          </p:cNvPr>
          <p:cNvSpPr>
            <a:spLocks noGrp="1"/>
          </p:cNvSpPr>
          <p:nvPr/>
        </p:nvSpPr>
        <p:spPr>
          <a:xfrm>
            <a:off x="4572000" y="19202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7FBC17-BE8C-4F4C-B6F7-C1C0CD30BD8B}"/>
              </a:ext>
            </a:extLst>
          </p:cNvPr>
          <p:cNvSpPr>
            <a:spLocks noGrp="1"/>
          </p:cNvSpPr>
          <p:nvPr/>
        </p:nvSpPr>
        <p:spPr>
          <a:xfrm>
            <a:off x="4681728" y="20574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4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289709-1E75-494C-BFEB-DAFB66A9B61A}"/>
              </a:ext>
            </a:extLst>
          </p:cNvPr>
          <p:cNvSpPr>
            <a:spLocks noGrp="1"/>
          </p:cNvSpPr>
          <p:nvPr/>
        </p:nvSpPr>
        <p:spPr>
          <a:xfrm>
            <a:off x="5394960" y="2121408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Celular quebrado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A290103-A0B9-41ED-8E8C-E9D878C0A7F4}"/>
              </a:ext>
            </a:extLst>
          </p:cNvPr>
          <p:cNvSpPr>
            <a:spLocks noGrp="1"/>
          </p:cNvSpPr>
          <p:nvPr/>
        </p:nvSpPr>
        <p:spPr>
          <a:xfrm>
            <a:off x="8321040" y="19202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259B70-C2C9-44D5-888B-00EACD093EF9}"/>
              </a:ext>
            </a:extLst>
          </p:cNvPr>
          <p:cNvSpPr>
            <a:spLocks noGrp="1"/>
          </p:cNvSpPr>
          <p:nvPr/>
        </p:nvSpPr>
        <p:spPr>
          <a:xfrm>
            <a:off x="8430767" y="20574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4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2F133-5D90-4BCC-B6DC-ACA185A46C85}"/>
              </a:ext>
            </a:extLst>
          </p:cNvPr>
          <p:cNvSpPr>
            <a:spLocks noGrp="1"/>
          </p:cNvSpPr>
          <p:nvPr/>
        </p:nvSpPr>
        <p:spPr>
          <a:xfrm>
            <a:off x="9144000" y="2121408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Pilha usada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0EE29F9-1610-4F13-9AFC-A17AC7952B1D}"/>
              </a:ext>
            </a:extLst>
          </p:cNvPr>
          <p:cNvSpPr>
            <a:spLocks noGrp="1"/>
          </p:cNvSpPr>
          <p:nvPr/>
        </p:nvSpPr>
        <p:spPr>
          <a:xfrm>
            <a:off x="822960" y="34290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C2061-E89F-4CA1-86F7-C14E171D2184}"/>
              </a:ext>
            </a:extLst>
          </p:cNvPr>
          <p:cNvSpPr>
            <a:spLocks noGrp="1"/>
          </p:cNvSpPr>
          <p:nvPr/>
        </p:nvSpPr>
        <p:spPr>
          <a:xfrm>
            <a:off x="932688" y="35661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4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9D79A3-63A9-436B-B1C6-285AD83637C8}"/>
              </a:ext>
            </a:extLst>
          </p:cNvPr>
          <p:cNvSpPr>
            <a:spLocks noGrp="1"/>
          </p:cNvSpPr>
          <p:nvPr/>
        </p:nvSpPr>
        <p:spPr>
          <a:xfrm>
            <a:off x="1645920" y="3630168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Papel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48C30A9-DAB4-4499-BB58-0CFF66960A47}"/>
              </a:ext>
            </a:extLst>
          </p:cNvPr>
          <p:cNvSpPr>
            <a:spLocks noGrp="1"/>
          </p:cNvSpPr>
          <p:nvPr/>
        </p:nvSpPr>
        <p:spPr>
          <a:xfrm>
            <a:off x="4572000" y="34290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D62EDB-8B67-46E2-A40E-D206BB9A3923}"/>
              </a:ext>
            </a:extLst>
          </p:cNvPr>
          <p:cNvSpPr>
            <a:spLocks noGrp="1"/>
          </p:cNvSpPr>
          <p:nvPr/>
        </p:nvSpPr>
        <p:spPr>
          <a:xfrm>
            <a:off x="4681728" y="35661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4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🎧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CAB7AE-12D1-4E86-8DD6-FA68AC932215}"/>
              </a:ext>
            </a:extLst>
          </p:cNvPr>
          <p:cNvSpPr>
            <a:spLocks noGrp="1"/>
          </p:cNvSpPr>
          <p:nvPr/>
        </p:nvSpPr>
        <p:spPr>
          <a:xfrm>
            <a:off x="5394960" y="3630168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Fone quebrado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F2786F-9DCD-4605-9936-2126C04972F4}"/>
              </a:ext>
            </a:extLst>
          </p:cNvPr>
          <p:cNvSpPr>
            <a:spLocks noGrp="1"/>
          </p:cNvSpPr>
          <p:nvPr/>
        </p:nvSpPr>
        <p:spPr>
          <a:xfrm>
            <a:off x="8321040" y="34290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703B69-9B6E-4AD4-B85D-1468659631F1}"/>
              </a:ext>
            </a:extLst>
          </p:cNvPr>
          <p:cNvSpPr>
            <a:spLocks noGrp="1"/>
          </p:cNvSpPr>
          <p:nvPr/>
        </p:nvSpPr>
        <p:spPr>
          <a:xfrm>
            <a:off x="8430767" y="35661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400" b="0">
                <a:solidFill>
                  <a:srgbClr val="21342D"/>
                </a:solidFill>
                <a:latin typeface="Segoe UI Emoji"/>
                <a:ea typeface="Segoe UI Emoji"/>
                <a:cs typeface="Segoe UI Emoji"/>
              </a:rPr>
              <a:t>🥫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BB2942-68A3-440A-9705-8842411367F4}"/>
              </a:ext>
            </a:extLst>
          </p:cNvPr>
          <p:cNvSpPr>
            <a:spLocks noGrp="1"/>
          </p:cNvSpPr>
          <p:nvPr/>
        </p:nvSpPr>
        <p:spPr>
          <a:xfrm>
            <a:off x="9144000" y="3630168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Lata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ECF7FEB-6804-4139-8A66-683D26977882}"/>
              </a:ext>
            </a:extLst>
          </p:cNvPr>
          <p:cNvSpPr>
            <a:spLocks noGrp="1"/>
          </p:cNvSpPr>
          <p:nvPr/>
        </p:nvSpPr>
        <p:spPr>
          <a:xfrm>
            <a:off x="2971800" y="5257800"/>
            <a:ext cx="6263640" cy="502920"/>
          </a:xfrm>
          <a:prstGeom prst="roundRect">
            <a:avLst/>
          </a:prstGeom>
          <a:solidFill>
            <a:srgbClr val="FFE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5F3BBC-26D0-44A1-B6ED-88D82CAE964D}"/>
              </a:ext>
            </a:extLst>
          </p:cNvPr>
          <p:cNvSpPr>
            <a:spLocks noGrp="1"/>
          </p:cNvSpPr>
          <p:nvPr/>
        </p:nvSpPr>
        <p:spPr>
          <a:xfrm>
            <a:off x="2971800" y="5257800"/>
            <a:ext cx="6263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Deixe as crianças responderem antes de mostrar a solução.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509A99-E372-4D50-B64E-2D0A56A39D11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58375" y="4762500"/>
            <a:ext cx="1619250" cy="1619250"/>
          </a:xfrm>
          <a:prstGeom prst="roundRect">
            <a:avLst>
              <a:gd name="adj" fmla="val 9412"/>
            </a:avLst>
          </a:prstGeom>
        </p:spPr>
      </p:pic>
      <p:pic>
        <p:nvPicPr>
          <p:cNvPr id="63" name="Imagem 62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CEA9B2B-FE64-4299-A54F-366C577DAC2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E1CB8F0-7323-4DB2-A2F6-CE80054C26F2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676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Desafio da Teka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2ACFD4C-B8CD-4FCF-9AF5-9EBE313B904A}"/>
              </a:ext>
            </a:extLst>
          </p:cNvPr>
          <p:cNvSpPr>
            <a:spLocks noGrp="1"/>
          </p:cNvSpPr>
          <p:nvPr/>
        </p:nvSpPr>
        <p:spPr>
          <a:xfrm>
            <a:off x="800100" y="1143000"/>
            <a:ext cx="6858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Onde cada item deve ser descartado?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3B71BBB-389C-4E1C-B7E5-B371BE352CD6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304800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7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CASCA DE BANANA</a:t>
            </a:r>
          </a:p>
          <a:p>
            <a:pPr>
              <a:defRPr sz="247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PAPEL</a:t>
            </a:r>
          </a:p>
          <a:p>
            <a:pPr>
              <a:defRPr sz="2475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LATA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9ABB278-7492-4310-9CDB-E14A1D9CBECE}"/>
              </a:ext>
            </a:extLst>
          </p:cNvPr>
          <p:cNvSpPr>
            <a:spLocks noGrp="1"/>
          </p:cNvSpPr>
          <p:nvPr/>
        </p:nvSpPr>
        <p:spPr>
          <a:xfrm>
            <a:off x="4048125" y="2143125"/>
            <a:ext cx="371475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CELULAR QUEBRADO</a:t>
            </a:r>
          </a:p>
          <a:p>
            <a:pPr>
              <a:def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PILHA USADA</a:t>
            </a:r>
          </a:p>
          <a:p>
            <a:pPr>
              <a:def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FONE QUEBRADO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2C094074-032C-47E5-96F3-DB365EAE7B9E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4953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1">
                <a:solidFill>
                  <a:srgbClr val="E9483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E94838"/>
                </a:solidFill>
                <a:latin typeface="DejaVu Sans"/>
                <a:ea typeface="DejaVu Sans"/>
                <a:cs typeface="DejaVu Sans"/>
              </a:rPr>
              <a:t>Deixe a turma responder!</a:t>
            </a:r>
          </a:p>
        </p:txBody>
      </p:sp>
    </p:spTree>
    <p:extLst>
      <p:ext uri="{BB962C8B-B14F-4D97-AF65-F5344CB8AC3E}">
        <p14:creationId xmlns:p14="http://schemas.microsoft.com/office/powerpoint/2010/main" val="1158114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E1DFBE-2454-44F5-A2D1-90F15B537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5BF66CF-C302-4604-9AC7-94660AF8BCC9}"/>
              </a:ext>
            </a:extLst>
          </p:cNvPr>
          <p:cNvSpPr>
            <a:spLocks noGrp="1"/>
          </p:cNvSpPr>
          <p:nvPr/>
        </p:nvSpPr>
        <p:spPr>
          <a:xfrm>
            <a:off x="201168" y="164592"/>
            <a:ext cx="566928" cy="420624"/>
          </a:xfrm>
          <a:prstGeom prst="roundRect">
            <a:avLst/>
          </a:prstGeom>
          <a:solidFill>
            <a:srgbClr val="60A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1564-B94A-448B-A028-EAE353E21CCB}"/>
              </a:ext>
            </a:extLst>
          </p:cNvPr>
          <p:cNvSpPr>
            <a:spLocks noGrp="1"/>
          </p:cNvSpPr>
          <p:nvPr/>
        </p:nvSpPr>
        <p:spPr>
          <a:xfrm>
            <a:off x="142875" y="164592"/>
            <a:ext cx="685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DFAFF-0BF5-49F7-A899-B424F008F78A}"/>
              </a:ext>
            </a:extLst>
          </p:cNvPr>
          <p:cNvSpPr>
            <a:spLocks noGrp="1"/>
          </p:cNvSpPr>
          <p:nvPr/>
        </p:nvSpPr>
        <p:spPr>
          <a:xfrm>
            <a:off x="868680" y="201168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Missão cumprida!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92734E-D84C-48C6-967F-0AAEB4EFB779}"/>
              </a:ext>
            </a:extLst>
          </p:cNvPr>
          <p:cNvSpPr>
            <a:spLocks noGrp="1"/>
          </p:cNvSpPr>
          <p:nvPr/>
        </p:nvSpPr>
        <p:spPr>
          <a:xfrm>
            <a:off x="3291840" y="1143000"/>
            <a:ext cx="5577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4350" b="1">
                <a:solidFill>
                  <a:srgbClr val="1E4034"/>
                </a:solidFill>
              </a:defRPr>
            </a:pPr>
            <a:r>
              <a:rPr sz="4350" b="1">
                <a:solidFill>
                  <a:srgbClr val="1E4034"/>
                </a:solidFill>
                <a:latin typeface="Segoe UI Emoji"/>
                <a:ea typeface="Segoe UI Emoji"/>
                <a:cs typeface="Segoe UI Emoji"/>
              </a:rPr>
              <a:t>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C5E18-E760-4272-8E6F-7F363DF9582E}"/>
              </a:ext>
            </a:extLst>
          </p:cNvPr>
          <p:cNvSpPr>
            <a:spLocks noGrp="1"/>
          </p:cNvSpPr>
          <p:nvPr/>
        </p:nvSpPr>
        <p:spPr>
          <a:xfrm>
            <a:off x="2857500" y="2209800"/>
            <a:ext cx="75247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A Teka aprendeu que tecnologia também tem um destino certo.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502AE-3ED2-4612-BAA6-F6D7518DF146}"/>
              </a:ext>
            </a:extLst>
          </p:cNvPr>
          <p:cNvSpPr>
            <a:spLocks noGrp="1"/>
          </p:cNvSpPr>
          <p:nvPr/>
        </p:nvSpPr>
        <p:spPr>
          <a:xfrm>
            <a:off x="2857500" y="3333750"/>
            <a:ext cx="7524750" cy="85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500" b="1">
                <a:solidFill>
                  <a:srgbClr val="21342D"/>
                </a:solidFill>
                <a:latin typeface="Aptos Display"/>
                <a:ea typeface="Aptos Display"/>
                <a:cs typeface="Aptos Display"/>
              </a:rPr>
              <a:t>E agora vocês também fazem parte dessa missão.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C2A6EA-1CF5-45A0-A956-E86C42CF46E4}"/>
              </a:ext>
            </a:extLst>
          </p:cNvPr>
          <p:cNvSpPr>
            <a:spLocks noGrp="1"/>
          </p:cNvSpPr>
          <p:nvPr/>
        </p:nvSpPr>
        <p:spPr>
          <a:xfrm>
            <a:off x="2423160" y="4251960"/>
            <a:ext cx="7360920" cy="502920"/>
          </a:xfrm>
          <a:prstGeom prst="roundRect">
            <a:avLst/>
          </a:prstGeom>
          <a:solidFill>
            <a:srgbClr val="D8F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8ABED4-9B15-4092-A310-72D1ECA948F5}"/>
              </a:ext>
            </a:extLst>
          </p:cNvPr>
          <p:cNvSpPr>
            <a:spLocks noGrp="1"/>
          </p:cNvSpPr>
          <p:nvPr/>
        </p:nvSpPr>
        <p:spPr>
          <a:xfrm>
            <a:off x="2423160" y="4251960"/>
            <a:ext cx="7360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PEQUENAS ATITUDES, GRANDES MUDANÇAS!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A62FB-5AD5-48D2-BCC2-6504D1EBF159}"/>
              </a:ext>
            </a:extLst>
          </p:cNvPr>
          <p:cNvSpPr>
            <a:spLocks noGrp="1"/>
          </p:cNvSpPr>
          <p:nvPr/>
        </p:nvSpPr>
        <p:spPr>
          <a:xfrm>
            <a:off x="1097280" y="516636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0A563A"/>
                </a:solidFill>
                <a:latin typeface="Aptos Display"/>
                <a:ea typeface="Aptos Display"/>
                <a:cs typeface="Aptos Display"/>
              </a:rPr>
              <a:t>Obrigada por ajudarem a Teka a cuidar do nosso futuro! 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8AEA6A-0194-409C-BDA7-59BD8020D379}"/>
              </a:ext>
            </a:extLst>
          </p:cNvPr>
          <p:cNvSpPr>
            <a:spLocks noGrp="1"/>
          </p:cNvSpPr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5A6E64"/>
                </a:solidFill>
                <a:latin typeface="Aptos Display"/>
                <a:ea typeface="Aptos Display"/>
                <a:cs typeface="Aptos Display"/>
              </a:rPr>
              <a:t>Teka e a Missão do Lixo Eletrônico • Caroline de Santana • ADS</a:t>
            </a: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2143125"/>
            <a:ext cx="2095500" cy="2095500"/>
          </a:xfrm>
          <a:prstGeom prst="roundRect">
            <a:avLst>
              <a:gd name="adj" fmla="val 7273"/>
            </a:avLst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0FE2413-267A-4FA7-9375-53416992F2F6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704850" cy="438150"/>
          </a:xfrm>
          <a:prstGeom prst="roundRect">
            <a:avLst>
              <a:gd name="adj" fmla="val 26087"/>
            </a:avLst>
          </a:prstGeom>
          <a:solidFill>
            <a:srgbClr val="68B8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rmAutofit/>
          </a:bodyPr>
          <a:lstStyle/>
          <a:p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BCCAFD7-3DE9-4D26-BE68-8276F7433956}"/>
              </a:ext>
            </a:extLst>
          </p:cNvPr>
          <p:cNvSpPr>
            <a:spLocks noGrp="1"/>
          </p:cNvSpPr>
          <p:nvPr/>
        </p:nvSpPr>
        <p:spPr>
          <a:xfrm>
            <a:off x="990600" y="266700"/>
            <a:ext cx="676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Missão cumprida!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BE98942-D9DC-4F1F-AA9D-5923E900E935}"/>
              </a:ext>
            </a:extLst>
          </p:cNvPr>
          <p:cNvSpPr>
            <a:spLocks noGrp="1"/>
          </p:cNvSpPr>
          <p:nvPr/>
        </p:nvSpPr>
        <p:spPr>
          <a:xfrm>
            <a:off x="819150" y="1381125"/>
            <a:ext cx="56197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Toda tecnologia</a:t>
            </a:r>
          </a:p>
          <a:p>
            <a:pPr>
              <a:def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75B3F"/>
                </a:solidFill>
                <a:latin typeface="DejaVu Sans"/>
                <a:ea typeface="DejaVu Sans"/>
                <a:cs typeface="DejaVu Sans"/>
              </a:rPr>
              <a:t>tem um destino.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BD80B6F-2D53-423E-BCB3-5AF72591BC56}"/>
              </a:ext>
            </a:extLst>
          </p:cNvPr>
          <p:cNvSpPr>
            <a:spLocks noGrp="1"/>
          </p:cNvSpPr>
          <p:nvPr/>
        </p:nvSpPr>
        <p:spPr>
          <a:xfrm>
            <a:off x="838200" y="3095625"/>
            <a:ext cx="5715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Agora vocês também fazem</a:t>
            </a:r>
          </a:p>
          <a:p>
            <a:pPr>
              <a:def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6734B"/>
                </a:solidFill>
                <a:latin typeface="DejaVu Sans"/>
                <a:ea typeface="DejaVu Sans"/>
                <a:cs typeface="DejaVu Sans"/>
              </a:rPr>
              <a:t>parte dessa missão.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804F519-C4D8-41D6-A51E-E35FB9322C71}"/>
              </a:ext>
            </a:extLst>
          </p:cNvPr>
          <p:cNvSpPr>
            <a:spLocks noGrp="1"/>
          </p:cNvSpPr>
          <p:nvPr/>
        </p:nvSpPr>
        <p:spPr>
          <a:xfrm>
            <a:off x="1857375" y="4333875"/>
            <a:ext cx="40005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PEQUENAS ATITUDES</a:t>
            </a:r>
          </a:p>
          <a:p>
            <a:pPr>
              <a:def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29B18"/>
                </a:solidFill>
                <a:latin typeface="DejaVu Sans"/>
                <a:ea typeface="DejaVu Sans"/>
                <a:cs typeface="DejaVu Sans"/>
              </a:rPr>
              <a:t>GRANDES MUDANÇAS!</a:t>
            </a:r>
          </a:p>
        </p:txBody>
      </p:sp>
    </p:spTree>
    <p:extLst>
      <p:ext uri="{BB962C8B-B14F-4D97-AF65-F5344CB8AC3E}">
        <p14:creationId xmlns:p14="http://schemas.microsoft.com/office/powerpoint/2010/main" val="1469913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1545</Words>
  <Application>Microsoft Office PowerPoint</Application>
  <DocSecurity>0</DocSecurity>
  <PresentationFormat>Widescreen</PresentationFormat>
  <Paragraphs>260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 Display</vt:lpstr>
      <vt:lpstr>Arial</vt:lpstr>
      <vt:lpstr>Calibri</vt:lpstr>
      <vt:lpstr>DejaVu Sans</vt:lpstr>
      <vt:lpstr>Segoe UI Emoji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CAROLINE JESUS DE SANTANA</cp:lastModifiedBy>
  <cp:revision>1</cp:revision>
  <dcterms:created xsi:type="dcterms:W3CDTF">2026-09-12T15:43:33Z</dcterms:created>
  <dcterms:modified xsi:type="dcterms:W3CDTF">2026-09-12T19:43:33Z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2026-09-12T19:43:31Z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21291230-600e-4882-9f12-ea305f319b01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